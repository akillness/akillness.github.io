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69" r:id="rId2"/>
    <p:sldId id="259" r:id="rId3"/>
    <p:sldId id="271" r:id="rId4"/>
    <p:sldId id="261" r:id="rId5"/>
    <p:sldId id="262" r:id="rId6"/>
    <p:sldId id="263" r:id="rId7"/>
    <p:sldId id="264" r:id="rId8"/>
    <p:sldId id="268" r:id="rId9"/>
    <p:sldId id="272" r:id="rId10"/>
    <p:sldId id="273" r:id="rId11"/>
    <p:sldId id="274" r:id="rId12"/>
    <p:sldId id="277" r:id="rId13"/>
    <p:sldId id="278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1pPr>
    <a:lvl2pPr marL="0" marR="0" indent="457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2pPr>
    <a:lvl3pPr marL="0" marR="0" indent="914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3pPr>
    <a:lvl4pPr marL="0" marR="0" indent="1371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4pPr>
    <a:lvl5pPr marL="0" marR="0" indent="18288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5pPr>
    <a:lvl6pPr marL="0" marR="0" indent="22860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6pPr>
    <a:lvl7pPr marL="0" marR="0" indent="27432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7pPr>
    <a:lvl8pPr marL="0" marR="0" indent="32004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8pPr>
    <a:lvl9pPr marL="0" marR="0" indent="3657600" algn="l" defTabSz="355600" rtl="0" fontAlgn="auto" latinLnBrk="0" hangingPunct="0">
      <a:lnSpc>
        <a:spcPct val="100000"/>
      </a:lnSpc>
      <a:spcBef>
        <a:spcPts val="470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chemeClr val="accent1">
            <a:satOff val="-9155"/>
            <a:lumOff val="-32673"/>
          </a:schemeClr>
        </a:solidFill>
        <a:effectLst/>
        <a:uFillTx/>
        <a:latin typeface="Avenir Next Regular"/>
        <a:ea typeface="Avenir Next Regular"/>
        <a:cs typeface="Avenir Next Regular"/>
        <a:sym typeface="Avenir Next Regular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2C30"/>
    <a:srgbClr val="0432FF"/>
    <a:srgbClr val="00FB9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-357243"/>
              <a:satOff val="7293"/>
              <a:lumOff val="8906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D5D5D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3">
              <a:satOff val="1412"/>
              <a:lumOff val="16412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>
                  <a:satOff val="1412"/>
                  <a:lumOff val="16412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6E937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FFF171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A51B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E1A84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4">
              <a:hueOff val="103425"/>
              <a:satOff val="-7243"/>
              <a:lumOff val="9921"/>
            </a:schemeClr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chemeClr val="accent5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lumOff val="-14283"/>
            </a:schemeClr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5">
                  <a:lumOff val="-14283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chemeClr val="accent5">
              <a:satOff val="-6299"/>
              <a:lumOff val="-32309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firstCol>
    <a:la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Next-DemiBold"/>
          <a:ea typeface="AvenirNext-DemiBold"/>
          <a:cs typeface="AvenirNext-Demi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5D5D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44"/>
    <p:restoredTop sz="94655"/>
  </p:normalViewPr>
  <p:slideViewPr>
    <p:cSldViewPr snapToGrid="0">
      <p:cViewPr varScale="1">
        <p:scale>
          <a:sx n="83" d="100"/>
          <a:sy n="83" d="100"/>
        </p:scale>
        <p:origin x="280" y="360"/>
      </p:cViewPr>
      <p:guideLst/>
    </p:cSldViewPr>
  </p:slideViewPr>
  <p:notesTextViewPr>
    <p:cViewPr>
      <p:scale>
        <a:sx n="85" d="100"/>
        <a:sy n="8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안면인식 </a:t>
            </a:r>
            <a:r>
              <a:rPr kumimoji="1" lang="en-US" altLang="ko-KR" dirty="0"/>
              <a:t>(2D</a:t>
            </a:r>
            <a:r>
              <a:rPr kumimoji="1" lang="ko-KR" altLang="en-US" dirty="0"/>
              <a:t> </a:t>
            </a:r>
            <a:r>
              <a:rPr kumimoji="1" lang="en-US" altLang="ko-KR" dirty="0"/>
              <a:t>landmark) </a:t>
            </a:r>
            <a:r>
              <a:rPr kumimoji="1" lang="ko-KR" altLang="en-US" dirty="0"/>
              <a:t>을 이용한 표정 변화량을 입력으로 </a:t>
            </a:r>
            <a:r>
              <a:rPr kumimoji="1" lang="ko-KR" altLang="en-US" dirty="0" err="1"/>
              <a:t>감섬</a:t>
            </a:r>
            <a:r>
              <a:rPr kumimoji="1" lang="ko-KR" altLang="en-US" dirty="0"/>
              <a:t> 분류가 주요기능</a:t>
            </a:r>
            <a:r>
              <a:rPr kumimoji="1" lang="en-US" altLang="ko-KR" dirty="0"/>
              <a:t>,</a:t>
            </a:r>
            <a:r>
              <a:rPr kumimoji="1" lang="ko-KR" altLang="en-US" dirty="0"/>
              <a:t> 그 외의 멀티 </a:t>
            </a:r>
            <a:r>
              <a:rPr kumimoji="1" lang="ko-KR" altLang="en-US" dirty="0" err="1"/>
              <a:t>모달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졸업논문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G-start 2015 b2b </a:t>
            </a:r>
            <a:r>
              <a:rPr kumimoji="1" lang="ko-KR" altLang="en-US" dirty="0"/>
              <a:t>전시 및 과제선정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JTBC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6871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0D1C0-8245-AD79-68CD-508D96ED9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A8D7AC1-C90D-74BA-9E12-4EBDE712A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D93510F-57BD-438F-C885-88203C0F0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강화학습 모델</a:t>
            </a:r>
            <a:r>
              <a:rPr kumimoji="1" lang="en-US" altLang="ko-KR" dirty="0"/>
              <a:t>(DQN) </a:t>
            </a:r>
            <a:r>
              <a:rPr kumimoji="1" lang="ko-KR" altLang="en-US" dirty="0"/>
              <a:t>을 게임에 적용해 플레이 에이전트 적용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게임에 강화학습 첫 적용사례</a:t>
            </a:r>
            <a:r>
              <a:rPr kumimoji="1" lang="en-US" altLang="ko-KR" dirty="0"/>
              <a:t>,</a:t>
            </a:r>
            <a:r>
              <a:rPr kumimoji="1" lang="ko-KR" altLang="en-US" dirty="0"/>
              <a:t> 직무전환에 기여</a:t>
            </a:r>
          </a:p>
        </p:txBody>
      </p:sp>
    </p:spTree>
    <p:extLst>
      <p:ext uri="{BB962C8B-B14F-4D97-AF65-F5344CB8AC3E}">
        <p14:creationId xmlns:p14="http://schemas.microsoft.com/office/powerpoint/2010/main" val="28505081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MCTS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이용한 에이전트 행동 결정 모델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시뮬레이션 기반 난이도 평가 데이터 적재 및 난이도 예측 기여</a:t>
            </a:r>
            <a:r>
              <a:rPr kumimoji="1" lang="en-US" altLang="ko-KR" dirty="0"/>
              <a:t>,</a:t>
            </a:r>
            <a:r>
              <a:rPr kumimoji="1" lang="ko-KR" altLang="en-US" dirty="0"/>
              <a:t> 다음 프로젝트 진행에 기여</a:t>
            </a:r>
          </a:p>
        </p:txBody>
      </p:sp>
    </p:spTree>
    <p:extLst>
      <p:ext uri="{BB962C8B-B14F-4D97-AF65-F5344CB8AC3E}">
        <p14:creationId xmlns:p14="http://schemas.microsoft.com/office/powerpoint/2010/main" val="13723788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절차적생성기법을 이용한 패턴 생성 기술</a:t>
            </a:r>
            <a:r>
              <a:rPr kumimoji="1" lang="en-US" altLang="ko-KR" dirty="0"/>
              <a:t>,</a:t>
            </a:r>
            <a:r>
              <a:rPr kumimoji="1" lang="ko-KR" altLang="en-US" dirty="0"/>
              <a:t> 생성 모델 적용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3-Match</a:t>
            </a:r>
            <a:r>
              <a:rPr kumimoji="1" lang="ko-KR" altLang="en-US" dirty="0"/>
              <a:t> 패턴 생성 자동화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NCDP2020</a:t>
            </a:r>
            <a:r>
              <a:rPr kumimoji="1" lang="ko-KR" altLang="en-US" dirty="0"/>
              <a:t> 발표</a:t>
            </a:r>
            <a:r>
              <a:rPr kumimoji="1" lang="en-US" altLang="ko-KR" dirty="0"/>
              <a:t>,</a:t>
            </a:r>
            <a:r>
              <a:rPr kumimoji="1" lang="ko-KR" altLang="en-US" dirty="0"/>
              <a:t> 특허출원</a:t>
            </a:r>
          </a:p>
        </p:txBody>
      </p:sp>
    </p:spTree>
    <p:extLst>
      <p:ext uri="{BB962C8B-B14F-4D97-AF65-F5344CB8AC3E}">
        <p14:creationId xmlns:p14="http://schemas.microsoft.com/office/powerpoint/2010/main" val="3589296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fine-tune</a:t>
            </a:r>
            <a:r>
              <a:rPr kumimoji="1" lang="ko-KR" altLang="en-US" dirty="0"/>
              <a:t> </a:t>
            </a:r>
            <a:r>
              <a:rPr kumimoji="1" lang="en-US" altLang="ko-KR" dirty="0"/>
              <a:t>SML </a:t>
            </a:r>
            <a:r>
              <a:rPr kumimoji="1" lang="ko-KR" altLang="en-US" dirty="0"/>
              <a:t>기반의 </a:t>
            </a:r>
            <a:r>
              <a:rPr kumimoji="1" lang="en-US" altLang="ko-KR" dirty="0"/>
              <a:t>Chatbot</a:t>
            </a:r>
            <a:r>
              <a:rPr kumimoji="1" lang="ko-KR" altLang="en-US" dirty="0"/>
              <a:t>을 유니티 게임에 연동된 시스템 구축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fine-tune</a:t>
            </a:r>
            <a:r>
              <a:rPr kumimoji="1" lang="ko-KR" altLang="en-US" dirty="0"/>
              <a:t> </a:t>
            </a:r>
            <a:r>
              <a:rPr kumimoji="1" lang="en-US" altLang="ko-KR" dirty="0"/>
              <a:t>SML </a:t>
            </a:r>
            <a:r>
              <a:rPr kumimoji="1" lang="ko-KR" altLang="en-US" dirty="0"/>
              <a:t>기반의 </a:t>
            </a:r>
            <a:r>
              <a:rPr kumimoji="1" lang="en-US" altLang="ko-KR" dirty="0"/>
              <a:t>Chatbot </a:t>
            </a:r>
            <a:r>
              <a:rPr kumimoji="1" lang="ko-KR" altLang="en-US" dirty="0" err="1"/>
              <a:t>인디게임</a:t>
            </a:r>
            <a:r>
              <a:rPr kumimoji="1" lang="ko-KR" altLang="en-US" dirty="0"/>
              <a:t> 개발 주요 핵심 모듈로 동작</a:t>
            </a:r>
          </a:p>
        </p:txBody>
      </p:sp>
    </p:spTree>
    <p:extLst>
      <p:ext uri="{BB962C8B-B14F-4D97-AF65-F5344CB8AC3E}">
        <p14:creationId xmlns:p14="http://schemas.microsoft.com/office/powerpoint/2010/main" val="41212796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Macro</a:t>
            </a:r>
            <a:r>
              <a:rPr kumimoji="1" lang="ko-KR" altLang="en-US" dirty="0"/>
              <a:t> 동작</a:t>
            </a:r>
            <a:r>
              <a:rPr kumimoji="1" lang="en-US" altLang="ko-KR" dirty="0"/>
              <a:t>,</a:t>
            </a:r>
            <a:r>
              <a:rPr kumimoji="1" lang="ko-KR" altLang="en-US" dirty="0"/>
              <a:t> 독립적인 비전 데이터를 활용하기 위한 방법에 </a:t>
            </a:r>
            <a:r>
              <a:rPr kumimoji="1" lang="en-US" altLang="ko-KR" dirty="0"/>
              <a:t>Transformer,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이미지프로세싱</a:t>
            </a:r>
            <a:r>
              <a:rPr kumimoji="1" lang="ko-KR" altLang="en-US" dirty="0"/>
              <a:t> 적용</a:t>
            </a:r>
            <a:r>
              <a:rPr kumimoji="1" lang="en-US" altLang="ko-KR" dirty="0"/>
              <a:t> </a:t>
            </a:r>
            <a:br>
              <a:rPr kumimoji="1" lang="en-US" altLang="ko-KR" dirty="0"/>
            </a:br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2024</a:t>
            </a:r>
            <a:r>
              <a:rPr kumimoji="1" lang="ko-KR" altLang="en-US" dirty="0"/>
              <a:t> </a:t>
            </a:r>
            <a:r>
              <a:rPr kumimoji="1" lang="en-US" altLang="ko-KR" dirty="0"/>
              <a:t>RA AI</a:t>
            </a:r>
            <a:r>
              <a:rPr kumimoji="1" lang="ko-KR" altLang="en-US" dirty="0"/>
              <a:t> 포스터 발표</a:t>
            </a:r>
          </a:p>
        </p:txBody>
      </p:sp>
    </p:spTree>
    <p:extLst>
      <p:ext uri="{BB962C8B-B14F-4D97-AF65-F5344CB8AC3E}">
        <p14:creationId xmlns:p14="http://schemas.microsoft.com/office/powerpoint/2010/main" val="22240230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온디바이스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Chatbot system – Like ChatGPT</a:t>
            </a:r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RAG, </a:t>
            </a:r>
            <a:r>
              <a:rPr kumimoji="1" lang="en-US" altLang="ko-KR" dirty="0" err="1"/>
              <a:t>DeepSeek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TinyLlama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LlamaIndex</a:t>
            </a:r>
            <a:r>
              <a:rPr kumimoji="1" lang="en-US" altLang="ko-KR" dirty="0"/>
              <a:t>, </a:t>
            </a:r>
            <a:r>
              <a:rPr kumimoji="1" lang="en-US" altLang="ko-KR" dirty="0" err="1"/>
              <a:t>LangChain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Chain of Thought </a:t>
            </a:r>
            <a:r>
              <a:rPr kumimoji="1" lang="ko-KR" altLang="en-US" dirty="0"/>
              <a:t>같은 방법을 코드에 적용 및 테스트 </a:t>
            </a:r>
            <a:r>
              <a:rPr kumimoji="1" lang="en-US" altLang="ko-KR" dirty="0">
                <a:sym typeface="Wingdings" pitchFamily="2" charset="2"/>
              </a:rPr>
              <a:t></a:t>
            </a:r>
            <a:r>
              <a:rPr kumimoji="1" lang="ko-KR" altLang="en-US" dirty="0">
                <a:sym typeface="Wingdings" pitchFamily="2" charset="2"/>
              </a:rPr>
              <a:t> 성능개선측면 한계점 및 인사이트 도출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06321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F8CDE-698E-C5C7-C561-08EABBD19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DE9932-7A70-A458-2FBA-309871C2E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DD09C5-2176-D29A-44B9-949F89D728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Chat GPT </a:t>
            </a:r>
            <a:r>
              <a:rPr kumimoji="1" lang="ko-KR" altLang="en-US" dirty="0"/>
              <a:t>무료 모델 </a:t>
            </a:r>
            <a:r>
              <a:rPr kumimoji="1" lang="en-US" altLang="ko-KR" dirty="0"/>
              <a:t>(gpt-4o-mini) </a:t>
            </a:r>
            <a:r>
              <a:rPr kumimoji="1" lang="ko-KR" altLang="en-US" dirty="0"/>
              <a:t>기반 코드</a:t>
            </a:r>
            <a:r>
              <a:rPr kumimoji="1" lang="en-US" altLang="ko-KR" dirty="0"/>
              <a:t>,</a:t>
            </a:r>
            <a:r>
              <a:rPr kumimoji="1" lang="ko-KR" altLang="en-US" dirty="0"/>
              <a:t> </a:t>
            </a:r>
            <a:r>
              <a:rPr kumimoji="1" lang="ko-KR" altLang="en-US" dirty="0" err="1"/>
              <a:t>웹검색</a:t>
            </a:r>
            <a:r>
              <a:rPr kumimoji="1" lang="ko-KR" altLang="en-US" dirty="0"/>
              <a:t> 동작하는 </a:t>
            </a:r>
            <a:r>
              <a:rPr kumimoji="1" lang="ko-KR" altLang="en-US" dirty="0" err="1"/>
              <a:t>에이전틱</a:t>
            </a:r>
            <a:r>
              <a:rPr kumimoji="1" lang="ko-KR" altLang="en-US" dirty="0"/>
              <a:t> </a:t>
            </a:r>
            <a:r>
              <a:rPr kumimoji="1" lang="en-US" altLang="ko-KR" dirty="0"/>
              <a:t>AI</a:t>
            </a:r>
            <a:r>
              <a:rPr kumimoji="1" lang="ko-KR" altLang="en-US" dirty="0"/>
              <a:t> 기능 구현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Agentic AI</a:t>
            </a:r>
            <a:r>
              <a:rPr kumimoji="1" lang="ko-KR" altLang="en-US" dirty="0"/>
              <a:t> 개념 증명 및 </a:t>
            </a:r>
            <a:r>
              <a:rPr kumimoji="1" lang="ko-KR" altLang="en-US" dirty="0" err="1"/>
              <a:t>바이브</a:t>
            </a:r>
            <a:r>
              <a:rPr kumimoji="1" lang="ko-KR" altLang="en-US" dirty="0"/>
              <a:t> 코딩 사례 증명</a:t>
            </a:r>
          </a:p>
        </p:txBody>
      </p:sp>
    </p:spTree>
    <p:extLst>
      <p:ext uri="{BB962C8B-B14F-4D97-AF65-F5344CB8AC3E}">
        <p14:creationId xmlns:p14="http://schemas.microsoft.com/office/powerpoint/2010/main" val="35602189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4555-D657-3E22-3D19-AFEABB75F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C2838C7-0E46-0222-B3B5-7B12D859A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63F670-CB53-81A5-CEEA-68CA9A976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Chat GPT </a:t>
            </a:r>
            <a:r>
              <a:rPr kumimoji="1" lang="ko-KR" altLang="en-US" dirty="0"/>
              <a:t>무료 모델 </a:t>
            </a:r>
            <a:r>
              <a:rPr kumimoji="1" lang="en-US" altLang="ko-KR" dirty="0"/>
              <a:t>(gpt-4o-mini) </a:t>
            </a:r>
            <a:r>
              <a:rPr kumimoji="1" lang="ko-KR" altLang="en-US" dirty="0"/>
              <a:t>기반 </a:t>
            </a:r>
            <a:r>
              <a:rPr kumimoji="1" lang="en-US" altLang="ko-KR" dirty="0"/>
              <a:t>Context aware</a:t>
            </a:r>
            <a:r>
              <a:rPr kumimoji="1" lang="ko-KR" altLang="en-US" dirty="0"/>
              <a:t> </a:t>
            </a:r>
            <a:r>
              <a:rPr kumimoji="1" lang="en-US" altLang="ko-KR" dirty="0"/>
              <a:t>(</a:t>
            </a:r>
            <a:r>
              <a:rPr kumimoji="1" lang="en-US" altLang="ko-KR" dirty="0" err="1"/>
              <a:t>ColBERT</a:t>
            </a:r>
            <a:r>
              <a:rPr kumimoji="1" lang="en-US" altLang="ko-KR" dirty="0"/>
              <a:t>),</a:t>
            </a:r>
            <a:r>
              <a:rPr kumimoji="1" lang="ko-KR" altLang="en-US" dirty="0"/>
              <a:t> </a:t>
            </a:r>
            <a:r>
              <a:rPr kumimoji="1" lang="en-US" altLang="ko-KR" dirty="0"/>
              <a:t>Vector</a:t>
            </a:r>
            <a:r>
              <a:rPr kumimoji="1" lang="ko-KR" altLang="en-US" dirty="0"/>
              <a:t> </a:t>
            </a:r>
            <a:r>
              <a:rPr kumimoji="1" lang="en-US" altLang="ko-KR" dirty="0"/>
              <a:t>DB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이용한 </a:t>
            </a:r>
            <a:r>
              <a:rPr kumimoji="1" lang="en-US" altLang="ko-KR" dirty="0" err="1"/>
              <a:t>ReAct</a:t>
            </a:r>
            <a:r>
              <a:rPr kumimoji="1" lang="en-US" altLang="ko-KR" dirty="0"/>
              <a:t> Agent Workflow</a:t>
            </a:r>
            <a:r>
              <a:rPr kumimoji="1" lang="ko-KR" altLang="en-US" dirty="0"/>
              <a:t> 기능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/>
              <a:t>Agentic AI</a:t>
            </a:r>
            <a:r>
              <a:rPr kumimoji="1" lang="ko-KR" altLang="en-US" dirty="0"/>
              <a:t> 개념 을 활용한 게임디자인 에이전트 개발</a:t>
            </a:r>
          </a:p>
        </p:txBody>
      </p:sp>
    </p:spTree>
    <p:extLst>
      <p:ext uri="{BB962C8B-B14F-4D97-AF65-F5344CB8AC3E}">
        <p14:creationId xmlns:p14="http://schemas.microsoft.com/office/powerpoint/2010/main" val="40627462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A2ACA-68D6-B86A-AF67-CDB3E49DA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88485D-010A-C851-0219-0ABA89F25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1EA965-F5CE-A657-32D3-7930BE7B19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Ollama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서버를 이용해 </a:t>
            </a:r>
            <a:r>
              <a:rPr kumimoji="1" lang="en-US" altLang="ko-KR" dirty="0" err="1"/>
              <a:t>ReAct</a:t>
            </a:r>
            <a:r>
              <a:rPr kumimoji="1" lang="en-US" altLang="ko-KR" dirty="0"/>
              <a:t> Agent ( </a:t>
            </a:r>
            <a:r>
              <a:rPr kumimoji="1" lang="en-US" altLang="ko-KR" dirty="0" err="1"/>
              <a:t>prasonai</a:t>
            </a:r>
            <a:r>
              <a:rPr kumimoji="1" lang="en-US" altLang="ko-KR" dirty="0"/>
              <a:t> ) </a:t>
            </a:r>
            <a:r>
              <a:rPr kumimoji="1" lang="ko-KR" altLang="en-US" dirty="0"/>
              <a:t>활용과 </a:t>
            </a:r>
            <a:r>
              <a:rPr kumimoji="1" lang="en-US" altLang="ko-KR" dirty="0"/>
              <a:t>Multi-Agent Workflow </a:t>
            </a:r>
            <a:r>
              <a:rPr kumimoji="1" lang="ko-KR" altLang="en-US" dirty="0"/>
              <a:t>구축 및 </a:t>
            </a:r>
            <a:r>
              <a:rPr kumimoji="1" lang="en-US" altLang="ko-KR" dirty="0"/>
              <a:t>Task Planning 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A2A</a:t>
            </a:r>
            <a:r>
              <a:rPr kumimoji="1" lang="ko-KR" altLang="en-US" dirty="0"/>
              <a:t> 의 동작 및 정확성을 높이기 위한 </a:t>
            </a:r>
            <a:r>
              <a:rPr kumimoji="1" lang="en-US" altLang="ko-KR" dirty="0"/>
              <a:t>Knowledge</a:t>
            </a:r>
            <a:r>
              <a:rPr kumimoji="1" lang="ko-KR" altLang="en-US" dirty="0"/>
              <a:t> </a:t>
            </a:r>
            <a:r>
              <a:rPr kumimoji="1" lang="en-US" altLang="ko-KR" dirty="0"/>
              <a:t>Graph </a:t>
            </a:r>
            <a:r>
              <a:rPr kumimoji="1" lang="ko-KR" altLang="en-US" dirty="0"/>
              <a:t>기반의 </a:t>
            </a:r>
            <a:r>
              <a:rPr kumimoji="1" lang="en-US" altLang="ko-KR" dirty="0" err="1"/>
              <a:t>Sementic</a:t>
            </a:r>
            <a:r>
              <a:rPr kumimoji="1" lang="en-US" altLang="ko-KR" dirty="0"/>
              <a:t> Routing </a:t>
            </a:r>
            <a:r>
              <a:rPr kumimoji="1" lang="ko-KR" altLang="en-US" dirty="0"/>
              <a:t>기능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지능화 </a:t>
            </a:r>
            <a:r>
              <a:rPr kumimoji="1" lang="en-US" altLang="ko-KR" dirty="0"/>
              <a:t>Agentic AI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확장성 있게 사용하기 위한 </a:t>
            </a:r>
            <a:r>
              <a:rPr kumimoji="1" lang="en-US" altLang="ko-KR" dirty="0"/>
              <a:t>Framework </a:t>
            </a:r>
            <a:r>
              <a:rPr kumimoji="1" lang="ko-KR" altLang="en-US" dirty="0"/>
              <a:t>구축</a:t>
            </a:r>
          </a:p>
        </p:txBody>
      </p:sp>
    </p:spTree>
    <p:extLst>
      <p:ext uri="{BB962C8B-B14F-4D97-AF65-F5344CB8AC3E}">
        <p14:creationId xmlns:p14="http://schemas.microsoft.com/office/powerpoint/2010/main" val="2734040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95D78-26BE-0290-5D24-B7DC6407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0E9321-6D90-48AF-5F10-2C8A18869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451F0-5E1A-2402-06A8-940429B15A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Ollama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서버를 이용해 </a:t>
            </a:r>
            <a:r>
              <a:rPr kumimoji="1" lang="en-US" altLang="ko-KR" dirty="0" err="1"/>
              <a:t>ReAct</a:t>
            </a:r>
            <a:r>
              <a:rPr kumimoji="1" lang="en-US" altLang="ko-KR" dirty="0"/>
              <a:t> Agent ( </a:t>
            </a:r>
            <a:r>
              <a:rPr kumimoji="1" lang="en-US" altLang="ko-KR" dirty="0" err="1"/>
              <a:t>prasonai</a:t>
            </a:r>
            <a:r>
              <a:rPr kumimoji="1" lang="en-US" altLang="ko-KR" dirty="0"/>
              <a:t> ) </a:t>
            </a:r>
            <a:r>
              <a:rPr kumimoji="1" lang="ko-KR" altLang="en-US" dirty="0"/>
              <a:t>활용과 </a:t>
            </a:r>
            <a:r>
              <a:rPr kumimoji="1" lang="en-US" altLang="ko-KR" dirty="0"/>
              <a:t>Multi-Agent Workflow </a:t>
            </a:r>
            <a:r>
              <a:rPr kumimoji="1" lang="ko-KR" altLang="en-US" dirty="0"/>
              <a:t>구축 및 </a:t>
            </a:r>
            <a:r>
              <a:rPr kumimoji="1" lang="en-US" altLang="ko-KR" dirty="0"/>
              <a:t>Task Planning 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A2A</a:t>
            </a:r>
            <a:r>
              <a:rPr kumimoji="1" lang="ko-KR" altLang="en-US" dirty="0"/>
              <a:t> 의 동작 및 정확성을 높이기 위한 </a:t>
            </a:r>
            <a:r>
              <a:rPr kumimoji="1" lang="en-US" altLang="ko-KR" dirty="0"/>
              <a:t>Knowledge</a:t>
            </a:r>
            <a:r>
              <a:rPr kumimoji="1" lang="ko-KR" altLang="en-US" dirty="0"/>
              <a:t> </a:t>
            </a:r>
            <a:r>
              <a:rPr kumimoji="1" lang="en-US" altLang="ko-KR" dirty="0"/>
              <a:t>Graph </a:t>
            </a:r>
            <a:r>
              <a:rPr kumimoji="1" lang="ko-KR" altLang="en-US" dirty="0"/>
              <a:t>기반의 </a:t>
            </a:r>
            <a:r>
              <a:rPr kumimoji="1" lang="en-US" altLang="ko-KR" dirty="0" err="1"/>
              <a:t>Sementic</a:t>
            </a:r>
            <a:r>
              <a:rPr kumimoji="1" lang="en-US" altLang="ko-KR" dirty="0"/>
              <a:t> Routing </a:t>
            </a:r>
            <a:r>
              <a:rPr kumimoji="1" lang="ko-KR" altLang="en-US" dirty="0"/>
              <a:t>기능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지능화 </a:t>
            </a:r>
            <a:r>
              <a:rPr kumimoji="1" lang="en-US" altLang="ko-KR" dirty="0"/>
              <a:t>Agentic AI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확장성 있게 사용하기 위한 </a:t>
            </a:r>
            <a:r>
              <a:rPr kumimoji="1" lang="en-US" altLang="ko-KR" dirty="0"/>
              <a:t>Framework </a:t>
            </a:r>
            <a:r>
              <a:rPr kumimoji="1" lang="ko-KR" altLang="en-US" dirty="0"/>
              <a:t>구축</a:t>
            </a:r>
          </a:p>
        </p:txBody>
      </p:sp>
    </p:spTree>
    <p:extLst>
      <p:ext uri="{BB962C8B-B14F-4D97-AF65-F5344CB8AC3E}">
        <p14:creationId xmlns:p14="http://schemas.microsoft.com/office/powerpoint/2010/main" val="11248467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3CC66-A4DA-1648-BE15-A1674147F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9FCCC4F-5CF4-CE3E-FEA8-D19BDB13D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8384B3-BC71-01E7-2B42-6CFB94D4D5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ko-KR" altLang="en-US" dirty="0"/>
              <a:t>주요기능 </a:t>
            </a:r>
            <a:r>
              <a:rPr kumimoji="1" lang="en-US" altLang="ko-KR" dirty="0"/>
              <a:t>: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Ollama</a:t>
            </a:r>
            <a:r>
              <a:rPr kumimoji="1" lang="en-US" altLang="ko-KR" dirty="0"/>
              <a:t> </a:t>
            </a:r>
            <a:r>
              <a:rPr kumimoji="1" lang="ko-KR" altLang="en-US" dirty="0"/>
              <a:t>모델 서버를 이용해 </a:t>
            </a:r>
            <a:r>
              <a:rPr kumimoji="1" lang="en-US" altLang="ko-KR" dirty="0" err="1"/>
              <a:t>ReAct</a:t>
            </a:r>
            <a:r>
              <a:rPr kumimoji="1" lang="en-US" altLang="ko-KR" dirty="0"/>
              <a:t> Agent ( </a:t>
            </a:r>
            <a:r>
              <a:rPr kumimoji="1" lang="en-US" altLang="ko-KR" dirty="0" err="1"/>
              <a:t>prasonai</a:t>
            </a:r>
            <a:r>
              <a:rPr kumimoji="1" lang="en-US" altLang="ko-KR" dirty="0"/>
              <a:t> ) </a:t>
            </a:r>
            <a:r>
              <a:rPr kumimoji="1" lang="ko-KR" altLang="en-US" dirty="0"/>
              <a:t>활용과 </a:t>
            </a:r>
            <a:r>
              <a:rPr kumimoji="1" lang="en-US" altLang="ko-KR" dirty="0"/>
              <a:t>Multi-Agent Workflow </a:t>
            </a:r>
            <a:r>
              <a:rPr kumimoji="1" lang="ko-KR" altLang="en-US" dirty="0"/>
              <a:t>구축 및 </a:t>
            </a:r>
            <a:r>
              <a:rPr kumimoji="1" lang="en-US" altLang="ko-KR" dirty="0"/>
              <a:t>Task Planning </a:t>
            </a:r>
            <a:r>
              <a:rPr kumimoji="1" lang="ko-KR" altLang="en-US" dirty="0"/>
              <a:t>와 </a:t>
            </a:r>
            <a:r>
              <a:rPr kumimoji="1" lang="en-US" altLang="ko-KR" dirty="0"/>
              <a:t>A2A</a:t>
            </a:r>
            <a:r>
              <a:rPr kumimoji="1" lang="ko-KR" altLang="en-US" dirty="0"/>
              <a:t> 의 동작 및 정확성을 높이기 위한 </a:t>
            </a:r>
            <a:r>
              <a:rPr kumimoji="1" lang="en-US" altLang="ko-KR" dirty="0"/>
              <a:t>Knowledge</a:t>
            </a:r>
            <a:r>
              <a:rPr kumimoji="1" lang="ko-KR" altLang="en-US" dirty="0"/>
              <a:t> </a:t>
            </a:r>
            <a:r>
              <a:rPr kumimoji="1" lang="en-US" altLang="ko-KR" dirty="0"/>
              <a:t>Graph </a:t>
            </a:r>
            <a:r>
              <a:rPr kumimoji="1" lang="ko-KR" altLang="en-US" dirty="0"/>
              <a:t>기반의 </a:t>
            </a:r>
            <a:r>
              <a:rPr kumimoji="1" lang="en-US" altLang="ko-KR" dirty="0" err="1"/>
              <a:t>Sementic</a:t>
            </a:r>
            <a:r>
              <a:rPr kumimoji="1" lang="en-US" altLang="ko-KR" dirty="0"/>
              <a:t> Routing </a:t>
            </a:r>
            <a:r>
              <a:rPr kumimoji="1" lang="ko-KR" altLang="en-US" dirty="0"/>
              <a:t>기능</a:t>
            </a:r>
            <a:endParaRPr kumimoji="1" lang="en-US" altLang="ko-KR" dirty="0"/>
          </a:p>
          <a:p>
            <a:r>
              <a:rPr kumimoji="1" lang="ko-KR" altLang="en-US" dirty="0"/>
              <a:t>성과 </a:t>
            </a:r>
            <a:r>
              <a:rPr kumimoji="1" lang="en-US" altLang="ko-KR" dirty="0"/>
              <a:t>:</a:t>
            </a:r>
            <a:r>
              <a:rPr kumimoji="1" lang="ko-KR" altLang="en-US" dirty="0"/>
              <a:t> 지능화 </a:t>
            </a:r>
            <a:r>
              <a:rPr kumimoji="1" lang="en-US" altLang="ko-KR" dirty="0"/>
              <a:t>Agentic AI 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확장성 있게 사용하기 위한 </a:t>
            </a:r>
            <a:r>
              <a:rPr kumimoji="1" lang="en-US" altLang="ko-KR" dirty="0"/>
              <a:t>Framework </a:t>
            </a:r>
            <a:r>
              <a:rPr kumimoji="1" lang="ko-KR" altLang="en-US" dirty="0"/>
              <a:t>구축</a:t>
            </a:r>
          </a:p>
        </p:txBody>
      </p:sp>
    </p:spTree>
    <p:extLst>
      <p:ext uri="{BB962C8B-B14F-4D97-AF65-F5344CB8AC3E}">
        <p14:creationId xmlns:p14="http://schemas.microsoft.com/office/powerpoint/2010/main" val="3336975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저자 및 날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12268950"/>
            <a:ext cx="21971000" cy="660401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프레젠테이션 제목</a:t>
            </a:r>
          </a:p>
        </p:txBody>
      </p:sp>
      <p:sp>
        <p:nvSpPr>
          <p:cNvPr id="1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초현대적 구조의 하얀 곡선형 구조물"/>
          <p:cNvSpPr>
            <a:spLocks noGrp="1"/>
          </p:cNvSpPr>
          <p:nvPr>
            <p:ph type="pic" idx="21"/>
          </p:nvPr>
        </p:nvSpPr>
        <p:spPr>
          <a:xfrm>
            <a:off x="0" y="-5397500"/>
            <a:ext cx="27190700" cy="203930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저자 및 날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12268200"/>
            <a:ext cx="21971000" cy="660400"/>
          </a:xfrm>
          <a:prstGeom prst="rect">
            <a:avLst/>
          </a:prstGeom>
        </p:spPr>
        <p:txBody>
          <a:bodyPr lIns="45719" tIns="45719" rIns="45719" bIns="45719" anchor="b"/>
          <a:lstStyle>
            <a:lvl1pPr marL="0" indent="0" defTabSz="825500">
              <a:spcBef>
                <a:spcPts val="0"/>
              </a:spcBef>
              <a:buSzTx/>
              <a:buNone/>
              <a:defRPr sz="33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저자 및 날짜</a:t>
            </a:r>
          </a:p>
        </p:txBody>
      </p:sp>
      <p:sp>
        <p:nvSpPr>
          <p:cNvPr id="23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353300"/>
            <a:ext cx="21971000" cy="2006600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프레젠테이션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4" name="프레젠테이션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2616200"/>
            <a:ext cx="21971004" cy="4648200"/>
          </a:xfrm>
          <a:prstGeom prst="rect">
            <a:avLst/>
          </a:prstGeom>
        </p:spPr>
        <p:txBody>
          <a:bodyPr anchor="b"/>
          <a:lstStyle>
            <a:lvl1pPr defTabSz="355600">
              <a:defRPr sz="12000" spc="-119"/>
            </a:lvl1pPr>
          </a:lstStyle>
          <a:p>
            <a:r>
              <a:t>프레젠테이션 제목</a:t>
            </a:r>
          </a:p>
        </p:txBody>
      </p:sp>
      <p:sp>
        <p:nvSpPr>
          <p:cNvPr id="2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사진 대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겹겹이 쌓인 하얀 곡선형 패턴을 근접 촬영한 사진"/>
          <p:cNvSpPr>
            <a:spLocks noGrp="1"/>
          </p:cNvSpPr>
          <p:nvPr>
            <p:ph type="pic" idx="21"/>
          </p:nvPr>
        </p:nvSpPr>
        <p:spPr>
          <a:xfrm>
            <a:off x="11569700" y="0"/>
            <a:ext cx="13716000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13335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슬라이드 제목</a:t>
            </a:r>
          </a:p>
        </p:txBody>
      </p:sp>
      <p:sp>
        <p:nvSpPr>
          <p:cNvPr id="34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150100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defTabSz="825500"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슬라이드 부제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43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44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구분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하얀 곡선형 돌을 근접 촬영한 사진"/>
          <p:cNvSpPr>
            <a:spLocks noGrp="1"/>
          </p:cNvSpPr>
          <p:nvPr>
            <p:ph type="pic" idx="21"/>
          </p:nvPr>
        </p:nvSpPr>
        <p:spPr>
          <a:xfrm>
            <a:off x="12382500" y="-1206500"/>
            <a:ext cx="12103100" cy="1614031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" name="슬라이드 부제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6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6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, 구분점 및 큰 라이브 비디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9779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8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9779000" cy="1689100"/>
          </a:xfrm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83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012"/>
          </a:xfrm>
          <a:prstGeom prst="rect">
            <a:avLst/>
          </a:prstGeom>
        </p:spPr>
        <p:txBody>
          <a:bodyPr/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4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섹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섹션 제목"/>
          <p:cNvSpPr txBox="1">
            <a:spLocks noGrp="1"/>
          </p:cNvSpPr>
          <p:nvPr>
            <p:ph type="title" hasCustomPrompt="1"/>
          </p:nvPr>
        </p:nvSpPr>
        <p:spPr>
          <a:xfrm>
            <a:off x="1206496" y="39116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2000" spc="-119"/>
            </a:lvl1pPr>
          </a:lstStyle>
          <a:p>
            <a:r>
              <a:t>섹션 제목</a:t>
            </a:r>
          </a:p>
        </p:txBody>
      </p:sp>
      <p:sp>
        <p:nvSpPr>
          <p:cNvPr id="9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전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슬라이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슬라이드 부제</a:t>
            </a:r>
          </a:p>
        </p:txBody>
      </p:sp>
      <p:sp>
        <p:nvSpPr>
          <p:cNvPr id="100" name="슬라이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슬라이드 제목</a:t>
            </a:r>
          </a:p>
        </p:txBody>
      </p:sp>
      <p:sp>
        <p:nvSpPr>
          <p:cNvPr id="10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의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의제 부제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24100"/>
            <a:ext cx="21971000" cy="10033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75969">
              <a:spcBef>
                <a:spcPts val="0"/>
              </a:spcBef>
              <a:buSzTx/>
              <a:buNone/>
              <a:defRPr sz="5170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의제 부제</a:t>
            </a:r>
          </a:p>
        </p:txBody>
      </p:sp>
      <p:sp>
        <p:nvSpPr>
          <p:cNvPr id="109" name="본문 첫 번째 줄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>
              <a:spcBef>
                <a:spcPts val="6000"/>
              </a:spcBef>
              <a:buSzTx/>
              <a:buNone/>
              <a:defRPr sz="5000"/>
            </a:lvl1pPr>
            <a:lvl2pPr marL="0" indent="457200">
              <a:spcBef>
                <a:spcPts val="6000"/>
              </a:spcBef>
              <a:buSzTx/>
              <a:buNone/>
              <a:defRPr sz="5000"/>
            </a:lvl2pPr>
            <a:lvl3pPr marL="0" indent="914400">
              <a:spcBef>
                <a:spcPts val="6000"/>
              </a:spcBef>
              <a:buSzTx/>
              <a:buNone/>
              <a:defRPr sz="5000"/>
            </a:lvl3pPr>
            <a:lvl4pPr marL="0" indent="1371600">
              <a:spcBef>
                <a:spcPts val="6000"/>
              </a:spcBef>
              <a:buSzTx/>
              <a:buNone/>
              <a:defRPr sz="5000"/>
            </a:lvl4pPr>
            <a:lvl5pPr marL="0" indent="1828800">
              <a:spcBef>
                <a:spcPts val="6000"/>
              </a:spcBef>
              <a:buSzTx/>
              <a:buNone/>
              <a:defRPr sz="5000"/>
            </a:lvl5pPr>
          </a:lstStyle>
          <a:p>
            <a:r>
              <a:t>의제 주제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0" name="의제 제목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의제 제목</a:t>
            </a:r>
          </a:p>
        </p:txBody>
      </p:sp>
      <p:sp>
        <p:nvSpPr>
          <p:cNvPr id="111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내역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본문 첫 번째 줄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191000"/>
            <a:ext cx="21971000" cy="40894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12000" spc="-119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내역서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중요한 사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206500"/>
            <a:ext cx="21971000" cy="7353300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1pPr>
            <a:lvl2pPr marL="0" indent="4572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2pPr>
            <a:lvl3pPr marL="0" indent="9144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3pPr>
            <a:lvl4pPr marL="0" indent="13716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4pPr>
            <a:lvl5pPr marL="0" indent="1828800" algn="ctr" defTabSz="2438400">
              <a:lnSpc>
                <a:spcPct val="90000"/>
              </a:lnSpc>
              <a:spcBef>
                <a:spcPts val="0"/>
              </a:spcBef>
              <a:buSzTx/>
              <a:buNone/>
              <a:defRPr sz="35000" spc="-1750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사실 정보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128000"/>
            <a:ext cx="21971000" cy="1079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90000"/>
              </a:lnSpc>
              <a:spcBef>
                <a:spcPts val="0"/>
              </a:spcBef>
              <a:buSzTx/>
              <a:buNone/>
              <a:defRPr sz="5500" spc="-55">
                <a:latin typeface="+mn-lt"/>
                <a:ea typeface="+mn-ea"/>
                <a:cs typeface="+mn-cs"/>
                <a:sym typeface="Produkt Extralight"/>
              </a:defRPr>
            </a:lvl1pPr>
          </a:lstStyle>
          <a:p>
            <a:r>
              <a:t>사실 정보</a:t>
            </a:r>
          </a:p>
        </p:txBody>
      </p:sp>
      <p:sp>
        <p:nvSpPr>
          <p:cNvPr id="128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인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속성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5461000" y="9563100"/>
            <a:ext cx="13728700" cy="69850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spcBef>
                <a:spcPts val="0"/>
              </a:spcBef>
              <a:buSzTx/>
              <a:buNone/>
              <a:defRPr sz="3600">
                <a:latin typeface="Produkt Light"/>
                <a:ea typeface="Produkt Light"/>
                <a:cs typeface="Produkt Light"/>
                <a:sym typeface="Produkt Light"/>
              </a:defRPr>
            </a:lvl1pPr>
          </a:lstStyle>
          <a:p>
            <a:r>
              <a:t>속성</a:t>
            </a:r>
          </a:p>
        </p:txBody>
      </p:sp>
      <p:sp>
        <p:nvSpPr>
          <p:cNvPr id="136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5194300" y="4165600"/>
            <a:ext cx="13995400" cy="4432300"/>
          </a:xfrm>
          <a:prstGeom prst="rect">
            <a:avLst/>
          </a:prstGeom>
        </p:spPr>
        <p:txBody>
          <a:bodyPr anchor="b"/>
          <a:lstStyle>
            <a:lvl1pPr marL="254000" indent="-2540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1pPr>
            <a:lvl2pPr marL="254000" indent="2032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2pPr>
            <a:lvl3pPr marL="254000" indent="6604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3pPr>
            <a:lvl4pPr marL="254000" indent="11176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4pPr>
            <a:lvl5pPr marL="254000" indent="1574800" defTabSz="2438400">
              <a:lnSpc>
                <a:spcPct val="90000"/>
              </a:lnSpc>
              <a:spcBef>
                <a:spcPts val="0"/>
              </a:spcBef>
              <a:buSzTx/>
              <a:buNone/>
              <a:defRPr sz="9300" spc="-93">
                <a:latin typeface="+mn-lt"/>
                <a:ea typeface="+mn-ea"/>
                <a:cs typeface="+mn-cs"/>
                <a:sym typeface="Produkt Extralight"/>
              </a:defRPr>
            </a:lvl5pPr>
          </a:lstStyle>
          <a:p>
            <a:r>
              <a:t>“멋진 인용구”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 - 3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겹겹이 쌓인 하얀 곡선형 패턴을 근접 촬영한 사진"/>
          <p:cNvSpPr>
            <a:spLocks noGrp="1"/>
          </p:cNvSpPr>
          <p:nvPr>
            <p:ph type="pic" sz="quarter" idx="21"/>
          </p:nvPr>
        </p:nvSpPr>
        <p:spPr>
          <a:xfrm>
            <a:off x="1257300" y="3213100"/>
            <a:ext cx="7289800" cy="7289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겹겹이 쌓인 회색 돌 패턴을 근접 촬영한 사진"/>
          <p:cNvSpPr>
            <a:spLocks noGrp="1"/>
          </p:cNvSpPr>
          <p:nvPr>
            <p:ph type="pic" sz="quarter" idx="22"/>
          </p:nvPr>
        </p:nvSpPr>
        <p:spPr>
          <a:xfrm>
            <a:off x="7353300" y="3632200"/>
            <a:ext cx="9677400" cy="6451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하얀 골이 진 패턴을 근접 촬영한 사진"/>
          <p:cNvSpPr>
            <a:spLocks noGrp="1"/>
          </p:cNvSpPr>
          <p:nvPr>
            <p:ph type="pic" sz="quarter" idx="23"/>
          </p:nvPr>
        </p:nvSpPr>
        <p:spPr>
          <a:xfrm>
            <a:off x="14621933" y="3632200"/>
            <a:ext cx="9677401" cy="645725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그림자가 있는 초현대적 구조의 기울어진 하얀 복도"/>
          <p:cNvSpPr>
            <a:spLocks noGrp="1"/>
          </p:cNvSpPr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슬라이드 번호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"/>
          <p:cNvSpPr txBox="1">
            <a:spLocks noGrp="1"/>
          </p:cNvSpPr>
          <p:nvPr>
            <p:ph type="title" hasCustomPrompt="1"/>
          </p:nvPr>
        </p:nvSpPr>
        <p:spPr>
          <a:xfrm>
            <a:off x="1206500" y="635000"/>
            <a:ext cx="21971000" cy="1689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제목</a:t>
            </a:r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슬라이드 구분점 텍스트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23538179" y="12443459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r" defTabSz="584200">
              <a:spcBef>
                <a:spcPts val="0"/>
              </a:spcBef>
              <a:defRPr sz="2000"/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ransition spd="med"/>
  <p:txStyles>
    <p:titleStyle>
      <a:lvl1pPr marL="0" marR="0" indent="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1pPr>
      <a:lvl2pPr marL="0" marR="0" indent="457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2pPr>
      <a:lvl3pPr marL="0" marR="0" indent="914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3pPr>
      <a:lvl4pPr marL="0" marR="0" indent="1371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4pPr>
      <a:lvl5pPr marL="0" marR="0" indent="18288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5pPr>
      <a:lvl6pPr marL="0" marR="0" indent="22860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6pPr>
      <a:lvl7pPr marL="0" marR="0" indent="27432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7pPr>
      <a:lvl8pPr marL="0" marR="0" indent="32004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8pPr>
      <a:lvl9pPr marL="0" marR="0" indent="3657600" algn="l" defTabSz="2438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none" spc="-100" baseline="0">
          <a:solidFill>
            <a:schemeClr val="accent1">
              <a:satOff val="-9155"/>
              <a:lumOff val="-32673"/>
            </a:schemeClr>
          </a:solidFill>
          <a:uFillTx/>
          <a:latin typeface="+mn-lt"/>
          <a:ea typeface="+mn-ea"/>
          <a:cs typeface="+mn-cs"/>
          <a:sym typeface="Produkt Extralight"/>
        </a:defRPr>
      </a:lvl9pPr>
    </p:titleStyle>
    <p:bodyStyle>
      <a:lvl1pPr marL="457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1pPr>
      <a:lvl2pPr marL="914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2pPr>
      <a:lvl3pPr marL="1371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3pPr>
      <a:lvl4pPr marL="1828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4pPr>
      <a:lvl5pPr marL="22860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5pPr>
      <a:lvl6pPr marL="27432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6pPr>
      <a:lvl7pPr marL="32004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7pPr>
      <a:lvl8pPr marL="36576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8pPr>
      <a:lvl9pPr marL="4114800" marR="0" indent="-457200" algn="l" defTabSz="355600" rtl="0" latinLnBrk="0">
        <a:lnSpc>
          <a:spcPct val="100000"/>
        </a:lnSpc>
        <a:spcBef>
          <a:spcPts val="4700"/>
        </a:spcBef>
        <a:spcAft>
          <a:spcPts val="0"/>
        </a:spcAft>
        <a:buClrTx/>
        <a:buSzPct val="100000"/>
        <a:buFontTx/>
        <a:buChar char="•"/>
        <a:tabLst/>
        <a:defRPr sz="4000" b="0" i="0" u="none" strike="noStrike" cap="none" spc="0" baseline="0">
          <a:solidFill>
            <a:schemeClr val="accent1">
              <a:satOff val="-9155"/>
              <a:lumOff val="-32673"/>
            </a:schemeClr>
          </a:solidFill>
          <a:uFillTx/>
          <a:latin typeface="Avenir Next Regular"/>
          <a:ea typeface="Avenir Next Regular"/>
          <a:cs typeface="Avenir Next Regular"/>
          <a:sym typeface="Avenir Next Regular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JlHuwKtsrH4?feature=oembed" TargetMode="External"/><Relationship Id="rId6" Type="http://schemas.openxmlformats.org/officeDocument/2006/relationships/hyperlink" Target="https://youtu.be/JlHuwKtsrH4" TargetMode="External"/><Relationship Id="rId5" Type="http://schemas.openxmlformats.org/officeDocument/2006/relationships/image" Target="../media/image1.jpeg"/><Relationship Id="rId4" Type="http://schemas.openxmlformats.org/officeDocument/2006/relationships/hyperlink" Target="https://blog.naver.com/PostView.naver?blogId=hongik_univ&amp;logNo=221171433924&amp;redirect=Dlog&amp;widgetTypeCall=true&amp;noTrackingCode=true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PjBDuD4rP9Xp7rGyZN89hAgQ4a0ro3OC/view?usp=sharin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hyperlink" Target="https://blog.naver.com/PostView.naver?blogId=hongik_univ&amp;logNo=221171433924&amp;redirect=Dlog&amp;widgetTypeCall=true&amp;noTrackingCode=tru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log.naver.com/PostView.naver?blogId=hongik_univ&amp;logNo=221171433924&amp;redirect=Dlog&amp;widgetTypeCall=true&amp;noTrackingCode=tru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_E4wyTex36Q?feature=oembed" TargetMode="Externa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hyperlink" Target="https://github.com/eglabsid/AutonomousQA_Too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gi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b_yONCV7uHM?feature=oembed" TargetMode="External"/><Relationship Id="rId5" Type="http://schemas.openxmlformats.org/officeDocument/2006/relationships/image" Target="../media/image14.jpeg"/><Relationship Id="rId4" Type="http://schemas.openxmlformats.org/officeDocument/2006/relationships/hyperlink" Target="https://youtu.be/b_yONCV7uH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yGEBGunb8u8?feature=oembed" TargetMode="External"/><Relationship Id="rId5" Type="http://schemas.openxmlformats.org/officeDocument/2006/relationships/hyperlink" Target="https://youtu.be/yGEBGunb8u8" TargetMode="Externa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video" Target="https://www.youtube.com/embed/o9Hfl9FH5Cc?feature=oembed" TargetMode="External"/><Relationship Id="rId6" Type="http://schemas.openxmlformats.org/officeDocument/2006/relationships/image" Target="../media/image17.jpeg"/><Relationship Id="rId5" Type="http://schemas.openxmlformats.org/officeDocument/2006/relationships/hyperlink" Target="https://youtu.be/o9Hfl9FH5Cc" TargetMode="Externa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22FFE2-C5B2-C2AC-133D-D54FCDA39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“안녕하세요. 정장영 입니다.”">
            <a:extLst>
              <a:ext uri="{FF2B5EF4-FFF2-40B4-BE49-F238E27FC236}">
                <a16:creationId xmlns:a16="http://schemas.microsoft.com/office/drawing/2014/main" id="{26BAF464-3395-B0DD-CE96-8013D09232FD}"/>
              </a:ext>
            </a:extLst>
          </p:cNvPr>
          <p:cNvSpPr txBox="1">
            <a:spLocks noGrp="1"/>
          </p:cNvSpPr>
          <p:nvPr>
            <p:ph type="subTitle" sz="quarter" idx="1"/>
          </p:nvPr>
        </p:nvSpPr>
        <p:spPr>
          <a:xfrm>
            <a:off x="1012591" y="7935714"/>
            <a:ext cx="21971001" cy="2006601"/>
          </a:xfrm>
          <a:prstGeom prst="rect">
            <a:avLst/>
          </a:prstGeom>
        </p:spPr>
        <p:txBody>
          <a:bodyPr/>
          <a:lstStyle>
            <a:lvl1pPr>
              <a:defRPr sz="3600" spc="-360">
                <a:latin typeface="나눔고딕"/>
                <a:ea typeface="나눔고딕"/>
                <a:cs typeface="나눔고딕"/>
                <a:sym typeface="나눔고딕"/>
              </a:defRPr>
            </a:lvl1pPr>
          </a:lstStyle>
          <a:p>
            <a:endParaRPr dirty="0">
              <a:solidFill>
                <a:schemeClr val="bg1"/>
              </a:solidFill>
            </a:endParaRPr>
          </a:p>
        </p:txBody>
      </p:sp>
      <p:sp>
        <p:nvSpPr>
          <p:cNvPr id="172" name="Oriented AI Development…">
            <a:extLst>
              <a:ext uri="{FF2B5EF4-FFF2-40B4-BE49-F238E27FC236}">
                <a16:creationId xmlns:a16="http://schemas.microsoft.com/office/drawing/2014/main" id="{FD74FBA9-4304-9C4E-348E-ADD95DB9E40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12589" y="2614002"/>
            <a:ext cx="21971005" cy="4648201"/>
          </a:xfrm>
          <a:prstGeom prst="rect">
            <a:avLst/>
          </a:prstGeom>
        </p:spPr>
        <p:txBody>
          <a:bodyPr/>
          <a:lstStyle/>
          <a:p>
            <a:pPr>
              <a:defRPr b="1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rPr lang="ko-KR" altLang="en-US" b="1" dirty="0">
                <a:solidFill>
                  <a:schemeClr val="bg1"/>
                </a:solidFill>
                <a:latin typeface="NANUMGOTHIC EXTRABOLD" panose="020D0604000000000000" pitchFamily="34" charset="-127"/>
                <a:ea typeface="NANUMGOTHIC EXTRABOLD" panose="020D0604000000000000" pitchFamily="34" charset="-127"/>
                <a:cs typeface="Noto Sans Kannada" panose="020B0502040504020204" pitchFamily="34" charset="0"/>
              </a:rPr>
              <a:t>포트폴리오</a:t>
            </a:r>
            <a:endParaRPr b="1" dirty="0">
              <a:solidFill>
                <a:schemeClr val="bg1"/>
              </a:solidFill>
              <a:latin typeface="NANUMGOTHIC EXTRABOLD" panose="020D0604000000000000" pitchFamily="34" charset="-127"/>
              <a:ea typeface="NANUMGOTHIC EXTRABOLD" panose="020D0604000000000000" pitchFamily="34" charset="-127"/>
              <a:cs typeface="Noto Sans Kannada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776963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경력 상세"/>
          <p:cNvSpPr txBox="1">
            <a:spLocks noGrp="1"/>
          </p:cNvSpPr>
          <p:nvPr>
            <p:ph type="title"/>
          </p:nvPr>
        </p:nvSpPr>
        <p:spPr>
          <a:xfrm>
            <a:off x="1206500" y="1284140"/>
            <a:ext cx="21971000" cy="1806815"/>
          </a:xfrm>
          <a:prstGeom prst="rect">
            <a:avLst/>
          </a:prstGeom>
        </p:spPr>
        <p:txBody>
          <a:bodyPr>
            <a:noAutofit/>
          </a:bodyPr>
          <a:lstStyle>
            <a:lvl1pPr defTabSz="2194559">
              <a:defRPr sz="9000" spc="-90"/>
            </a:lvl1pPr>
          </a:lstStyle>
          <a:p>
            <a:pPr marL="301752" indent="-301752" defTabSz="234696">
              <a:lnSpc>
                <a:spcPct val="100000"/>
              </a:lnSpc>
              <a:spcBef>
                <a:spcPts val="31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2017.12.26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홍익대학교 </a:t>
            </a:r>
            <a:r>
              <a:rPr lang="en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EGLab</a:t>
            </a: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b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</a:br>
            <a:r>
              <a:rPr lang="en" altLang="ko-KR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</a:t>
            </a:r>
            <a:r>
              <a:rPr lang="ko-KR" altLang="en-US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감성분석기술” </a:t>
            </a:r>
            <a:r>
              <a:rPr lang="en" altLang="ko-KR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JTBC </a:t>
            </a:r>
            <a:r>
              <a:rPr lang="ko-KR" altLang="en-US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특허기술이전</a:t>
            </a:r>
          </a:p>
        </p:txBody>
      </p:sp>
      <p:pic>
        <p:nvPicPr>
          <p:cNvPr id="186" name="Emotion Tracer" descr="Emotion Tracer"/>
          <p:cNvPicPr>
            <a:picLocks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1206500" y="4191000"/>
            <a:ext cx="13666765" cy="768755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9A1AF86-0F03-0430-972B-B7F0E3B383AE}"/>
              </a:ext>
            </a:extLst>
          </p:cNvPr>
          <p:cNvSpPr txBox="1"/>
          <p:nvPr/>
        </p:nvSpPr>
        <p:spPr>
          <a:xfrm>
            <a:off x="3983349" y="11497698"/>
            <a:ext cx="7809830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t">
            <a:spAutoFit/>
          </a:bodyPr>
          <a:lstStyle/>
          <a:p>
            <a:r>
              <a:rPr lang="en" altLang="ko-KR" sz="2400" dirty="0">
                <a:solidFill>
                  <a:schemeClr val="bg1">
                    <a:lumMod val="75000"/>
                  </a:schemeClr>
                </a:solidFill>
                <a:latin typeface="NanumBarunGothicOTF Light" panose="02000303000000000000" pitchFamily="2" charset="-128"/>
                <a:ea typeface="NanumBarunGothicOTF Light" panose="02000303000000000000" pitchFamily="2" charset="-128"/>
              </a:rPr>
              <a:t>Emotion Tracer </a:t>
            </a:r>
            <a:r>
              <a:rPr lang="ko-KR" altLang="en-US" sz="2400" dirty="0">
                <a:solidFill>
                  <a:schemeClr val="bg1">
                    <a:lumMod val="75000"/>
                  </a:schemeClr>
                </a:solidFill>
                <a:latin typeface="NanumBarunGothicOTF Light" panose="02000303000000000000" pitchFamily="2" charset="-128"/>
                <a:ea typeface="NanumBarunGothicOTF Light" panose="02000303000000000000" pitchFamily="2" charset="-128"/>
              </a:rPr>
              <a:t>툴 및 </a:t>
            </a:r>
            <a:r>
              <a:rPr lang="en" altLang="ko-KR" sz="2400" dirty="0">
                <a:solidFill>
                  <a:schemeClr val="bg1">
                    <a:lumMod val="75000"/>
                  </a:schemeClr>
                </a:solidFill>
                <a:latin typeface="NanumBarunGothicOTF Light" panose="02000303000000000000" pitchFamily="2" charset="-128"/>
                <a:ea typeface="NanumBarunGothicOTF Light" panose="02000303000000000000" pitchFamily="2" charset="-128"/>
              </a:rPr>
              <a:t>GCP </a:t>
            </a:r>
            <a:r>
              <a:rPr lang="ko-KR" altLang="en-US" sz="2400" dirty="0">
                <a:solidFill>
                  <a:schemeClr val="bg1">
                    <a:lumMod val="75000"/>
                  </a:schemeClr>
                </a:solidFill>
                <a:latin typeface="NanumBarunGothicOTF Light" panose="02000303000000000000" pitchFamily="2" charset="-128"/>
                <a:ea typeface="NanumBarunGothicOTF Light" panose="02000303000000000000" pitchFamily="2" charset="-128"/>
              </a:rPr>
              <a:t>기반 데이터 결과 확인 연동서비스</a:t>
            </a:r>
          </a:p>
        </p:txBody>
      </p:sp>
      <p:sp>
        <p:nvSpPr>
          <p:cNvPr id="5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DFED1130-10E5-16F1-7995-31B9D0FFE8D5}"/>
              </a:ext>
            </a:extLst>
          </p:cNvPr>
          <p:cNvSpPr txBox="1">
            <a:spLocks/>
          </p:cNvSpPr>
          <p:nvPr/>
        </p:nvSpPr>
        <p:spPr>
          <a:xfrm>
            <a:off x="15372914" y="4882206"/>
            <a:ext cx="7956986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얼굴 표정 분석기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2600" u="sng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Emotion Tracer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생체 신호 탐지기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Emotion Insole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86"/>
                </p:tgtEl>
              </p:cMediaNode>
            </p:video>
            <p:seq concurrent="1" prevAc="none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8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C2C437-1BA0-1C46-9171-0D8E2E546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경력 상세">
            <a:extLst>
              <a:ext uri="{FF2B5EF4-FFF2-40B4-BE49-F238E27FC236}">
                <a16:creationId xmlns:a16="http://schemas.microsoft.com/office/drawing/2014/main" id="{A4895086-4114-DCFA-6EE2-C2AFB0908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6500" y="1284140"/>
            <a:ext cx="21971000" cy="1806815"/>
          </a:xfrm>
          <a:prstGeom prst="rect">
            <a:avLst/>
          </a:prstGeom>
        </p:spPr>
        <p:txBody>
          <a:bodyPr>
            <a:noAutofit/>
          </a:bodyPr>
          <a:lstStyle>
            <a:lvl1pPr defTabSz="2194559">
              <a:defRPr sz="9000" spc="-90"/>
            </a:lvl1pPr>
          </a:lstStyle>
          <a:p>
            <a:pPr marL="301752" indent="-301752" defTabSz="234696">
              <a:lnSpc>
                <a:spcPct val="100000"/>
              </a:lnSpc>
              <a:spcBef>
                <a:spcPts val="3100"/>
              </a:spcBef>
              <a:defRPr sz="2640"/>
            </a:pP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2017.07 ~ 2017.12 Com2us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b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</a:br>
            <a:r>
              <a:rPr lang="en-US" altLang="ko-KR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“</a:t>
            </a:r>
            <a:r>
              <a:rPr lang="ko-KR" altLang="en-US" sz="5200" u="sng" dirty="0">
                <a:solidFill>
                  <a:srgbClr val="00FB92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던전 딜리버리” 강화학습 에이전트 적용 테스트</a:t>
            </a:r>
            <a:endParaRPr lang="ko-KR" altLang="en-US" sz="5200" u="sng" dirty="0">
              <a:solidFill>
                <a:srgbClr val="00FB92"/>
              </a:solidFill>
              <a:latin typeface="NanumBarunGothicOTF" panose="02020603020101020101" pitchFamily="18" charset="-127"/>
              <a:ea typeface="NanumBarunGothicOTF" panose="02020603020101020101" pitchFamily="18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5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2B0D44F7-D28D-9174-F9E4-DDA97A7640C6}"/>
              </a:ext>
            </a:extLst>
          </p:cNvPr>
          <p:cNvSpPr txBox="1">
            <a:spLocks/>
          </p:cNvSpPr>
          <p:nvPr/>
        </p:nvSpPr>
        <p:spPr>
          <a:xfrm>
            <a:off x="11993139" y="5655563"/>
            <a:ext cx="11566849" cy="2404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게임에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AI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기술 적용을 위한 탐색 및 가능성 타진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Tensorflow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작성된 강화학습 모델 설계 및 소켓 통신을 이용한 게임 적용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Gridmap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을 이용한 환경정보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,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Action Decision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을 위한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DQN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모델 적용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4EB8E1-FFBA-5DC9-8DA7-6ABF84A3475E}"/>
              </a:ext>
            </a:extLst>
          </p:cNvPr>
          <p:cNvSpPr txBox="1"/>
          <p:nvPr/>
        </p:nvSpPr>
        <p:spPr>
          <a:xfrm>
            <a:off x="2646137" y="10338432"/>
            <a:ext cx="7911765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t">
            <a:spAutoFit/>
          </a:bodyPr>
          <a:lstStyle/>
          <a:p>
            <a:pPr algn="ctr"/>
            <a:r>
              <a:rPr lang="ko-KR" altLang="en-US" sz="2400" dirty="0" err="1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던전딜리버리</a:t>
            </a:r>
            <a:r>
              <a:rPr lang="ko-KR" altLang="en-US" sz="2400" dirty="0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학습 시스템 구축 </a:t>
            </a:r>
            <a:r>
              <a:rPr lang="en-US" altLang="ko-KR" sz="2400" dirty="0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en" altLang="ko-KR" sz="2400" dirty="0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Server-Client)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EFB1277-E982-49A7-C188-D569BAC160D3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4012" y="4880522"/>
            <a:ext cx="11169127" cy="5807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67096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2494CB-2BE8-1427-340C-270882389908}"/>
              </a:ext>
            </a:extLst>
          </p:cNvPr>
          <p:cNvSpPr/>
          <p:nvPr/>
        </p:nvSpPr>
        <p:spPr>
          <a:xfrm>
            <a:off x="1206500" y="4729806"/>
            <a:ext cx="13086426" cy="7208194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  <p:pic>
        <p:nvPicPr>
          <p:cNvPr id="203" name="스크린샷 2024-07-14 오후 8.14.22.png" descr="스크린샷 2024-07-14 오후 8.14.22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6500" y="4806006"/>
            <a:ext cx="13086426" cy="6369994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AE659AB7-B7E8-6C19-96F4-C89A5DB3D4B4}"/>
              </a:ext>
            </a:extLst>
          </p:cNvPr>
          <p:cNvSpPr txBox="1">
            <a:spLocks/>
          </p:cNvSpPr>
          <p:nvPr/>
        </p:nvSpPr>
        <p:spPr>
          <a:xfrm>
            <a:off x="15220514" y="4729806"/>
            <a:ext cx="7956986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3-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Match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게임의 난이도를 시뮬레이션 기반으로 평가하기 위한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Agent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개발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MCTS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 구현 및 게임 로직에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Agent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가속화 및 난이도 평가 결과 도출</a:t>
            </a:r>
          </a:p>
        </p:txBody>
      </p:sp>
      <p:sp>
        <p:nvSpPr>
          <p:cNvPr id="8" name="경력 상세">
            <a:extLst>
              <a:ext uri="{FF2B5EF4-FFF2-40B4-BE49-F238E27FC236}">
                <a16:creationId xmlns:a16="http://schemas.microsoft.com/office/drawing/2014/main" id="{6C2DC876-A9B2-C4EE-3380-602C3A04A5E8}"/>
              </a:ext>
            </a:extLst>
          </p:cNvPr>
          <p:cNvSpPr txBox="1">
            <a:spLocks/>
          </p:cNvSpPr>
          <p:nvPr/>
        </p:nvSpPr>
        <p:spPr>
          <a:xfrm>
            <a:off x="1206499" y="1284140"/>
            <a:ext cx="22281029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2018.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03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~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2018.09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NC SOFT,</a:t>
            </a:r>
          </a:p>
          <a:p>
            <a:pPr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MCTS</a:t>
            </a:r>
            <a:r>
              <a:rPr lang="en-US" altLang="ko-KR" sz="48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(Monte Carlo Tree Search)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3-Match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퍼즐 게임 난이도 평가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개발</a:t>
            </a:r>
            <a:endParaRPr lang="ko-KR" altLang="en-US" sz="5200" u="sng" dirty="0">
              <a:solidFill>
                <a:srgbClr val="00FB92"/>
              </a:solidFill>
              <a:latin typeface="NanumBarunGothicOTF" panose="02020603020101020101" pitchFamily="18" charset="-127"/>
              <a:ea typeface="NanumBarunGothicOTF" panose="02020603020101020101" pitchFamily="18" charset="-127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>
            <a:extLst>
              <a:ext uri="{FF2B5EF4-FFF2-40B4-BE49-F238E27FC236}">
                <a16:creationId xmlns:a16="http://schemas.microsoft.com/office/drawing/2014/main" id="{ED32794D-1DCD-C951-C0F1-E21EF60247FF}"/>
              </a:ext>
            </a:extLst>
          </p:cNvPr>
          <p:cNvSpPr/>
          <p:nvPr/>
        </p:nvSpPr>
        <p:spPr>
          <a:xfrm>
            <a:off x="8304136" y="9646512"/>
            <a:ext cx="6377804" cy="2856389"/>
          </a:xfrm>
          <a:prstGeom prst="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0C7AAF8-0A2F-0755-3F18-EDDE4A2C7021}"/>
              </a:ext>
            </a:extLst>
          </p:cNvPr>
          <p:cNvGrpSpPr/>
          <p:nvPr/>
        </p:nvGrpSpPr>
        <p:grpSpPr>
          <a:xfrm>
            <a:off x="1206500" y="4333601"/>
            <a:ext cx="13475441" cy="8766257"/>
            <a:chOff x="1206500" y="4333601"/>
            <a:chExt cx="13475441" cy="8766257"/>
          </a:xfrm>
        </p:grpSpPr>
        <p:pic>
          <p:nvPicPr>
            <p:cNvPr id="208" name="CA.gif" descr="CA.gif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04136" y="4333601"/>
              <a:ext cx="6377805" cy="45920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9" name="Game of Life"/>
            <p:cNvSpPr txBox="1"/>
            <p:nvPr/>
          </p:nvSpPr>
          <p:spPr>
            <a:xfrm>
              <a:off x="10209992" y="9030438"/>
              <a:ext cx="2566091" cy="51125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600"/>
              </a:lvl1pPr>
            </a:lstStyle>
            <a:p>
              <a:pPr algn="ctr"/>
              <a:r>
                <a:rPr dirty="0">
                  <a:solidFill>
                    <a:schemeClr val="bg1">
                      <a:lumMod val="75000"/>
                    </a:schemeClr>
                  </a:solidFill>
                </a:rPr>
                <a:t>Game of Life</a:t>
              </a:r>
            </a:p>
          </p:txBody>
        </p:sp>
        <p:pic>
          <p:nvPicPr>
            <p:cNvPr id="211" name="GAN.png" descr="GAN.png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304135" y="9833469"/>
              <a:ext cx="6377806" cy="260839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2" name="GAN"/>
            <p:cNvSpPr txBox="1"/>
            <p:nvPr/>
          </p:nvSpPr>
          <p:spPr>
            <a:xfrm>
              <a:off x="11132629" y="12633816"/>
              <a:ext cx="720815" cy="425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/>
              </a:lvl1pPr>
            </a:lstStyle>
            <a:p>
              <a:r>
                <a:rPr dirty="0">
                  <a:solidFill>
                    <a:schemeClr val="bg1">
                      <a:lumMod val="75000"/>
                    </a:schemeClr>
                  </a:solidFill>
                </a:rPr>
                <a:t>GAN</a:t>
              </a:r>
            </a:p>
          </p:txBody>
        </p:sp>
        <p:pic>
          <p:nvPicPr>
            <p:cNvPr id="214" name="CA_pattern.png" descr="CA_pattern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6500" y="4333601"/>
              <a:ext cx="6776690" cy="81693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15" name="Patterns by CA"/>
            <p:cNvSpPr txBox="1"/>
            <p:nvPr/>
          </p:nvSpPr>
          <p:spPr>
            <a:xfrm>
              <a:off x="3156018" y="12597156"/>
              <a:ext cx="2354812" cy="5027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2600"/>
              </a:lvl1pPr>
            </a:lstStyle>
            <a:p>
              <a:r>
                <a:rPr dirty="0">
                  <a:solidFill>
                    <a:schemeClr val="bg1">
                      <a:lumMod val="75000"/>
                    </a:schemeClr>
                  </a:solidFill>
                </a:rPr>
                <a:t>Patterns by CA</a:t>
              </a:r>
            </a:p>
          </p:txBody>
        </p:sp>
      </p:grpSp>
      <p:sp>
        <p:nvSpPr>
          <p:cNvPr id="4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CD045688-68F9-4288-A93D-3D5DC308857B}"/>
              </a:ext>
            </a:extLst>
          </p:cNvPr>
          <p:cNvSpPr txBox="1">
            <a:spLocks/>
          </p:cNvSpPr>
          <p:nvPr/>
        </p:nvSpPr>
        <p:spPr>
          <a:xfrm>
            <a:off x="15220514" y="4729806"/>
            <a:ext cx="7956986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CA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 구현 및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CA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Generator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개발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CA Generative Combination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을 제안하여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Co-relationship pattern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개선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GAN (Generative Adversarial Networks)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모델 학습데이터로 활용</a:t>
            </a:r>
          </a:p>
        </p:txBody>
      </p:sp>
      <p:sp>
        <p:nvSpPr>
          <p:cNvPr id="5" name="경력 상세">
            <a:extLst>
              <a:ext uri="{FF2B5EF4-FFF2-40B4-BE49-F238E27FC236}">
                <a16:creationId xmlns:a16="http://schemas.microsoft.com/office/drawing/2014/main" id="{11B2DAB4-B963-3989-06F4-FB5E7A0614E7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2018.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10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~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2021.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03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NC SOFT,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CA(</a:t>
            </a:r>
            <a:r>
              <a:rPr lang="en-US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Celluala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Automata)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3-Match	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퍼즐게임 난이도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생성기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개발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8328B59E-F43A-B26D-43F0-BA8B6325EB1B}"/>
              </a:ext>
            </a:extLst>
          </p:cNvPr>
          <p:cNvGrpSpPr/>
          <p:nvPr/>
        </p:nvGrpSpPr>
        <p:grpSpPr>
          <a:xfrm>
            <a:off x="1206500" y="4091924"/>
            <a:ext cx="19882288" cy="8781082"/>
            <a:chOff x="1206500" y="4091924"/>
            <a:chExt cx="19882288" cy="8781082"/>
          </a:xfrm>
        </p:grpSpPr>
        <p:pic>
          <p:nvPicPr>
            <p:cNvPr id="224" name="붙여넣은 동영상.png" descr="붙여넣은 동영상.png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206500" y="4091924"/>
              <a:ext cx="8881872" cy="8101160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1" name="스크린샷 2024-08-28 오후 1.10.21.png" descr="스크린샷 2024-08-28 오후 1.10.21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58887" y="7965425"/>
              <a:ext cx="3669699" cy="4305301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222" name="붙여넣은 동영상.png" descr="붙여넣은 동영상.png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433487" y="4091924"/>
              <a:ext cx="10655301" cy="430530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223" name="추리게임에 적용된 화면"/>
            <p:cNvSpPr txBox="1"/>
            <p:nvPr/>
          </p:nvSpPr>
          <p:spPr>
            <a:xfrm>
              <a:off x="10819829" y="12431860"/>
              <a:ext cx="2744341" cy="4411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/>
              </a:lvl1pPr>
            </a:lstStyle>
            <a:p>
              <a:r>
                <a:rPr dirty="0" err="1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추리게임에</a:t>
              </a:r>
              <a:r>
                <a:rPr dirty="0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</a:t>
              </a:r>
              <a:r>
                <a:rPr dirty="0" err="1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적용된</a:t>
              </a:r>
              <a:r>
                <a:rPr dirty="0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</a:t>
              </a:r>
              <a:r>
                <a:rPr dirty="0" err="1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화면</a:t>
              </a:r>
              <a:endParaRPr dirty="0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</p:txBody>
        </p:sp>
        <p:sp>
          <p:nvSpPr>
            <p:cNvPr id="226" name="PEFT LoRA 학습결과"/>
            <p:cNvSpPr txBox="1"/>
            <p:nvPr/>
          </p:nvSpPr>
          <p:spPr>
            <a:xfrm>
              <a:off x="4365033" y="12431860"/>
              <a:ext cx="2564805" cy="44114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anchor="ctr">
              <a:spAutoFit/>
            </a:bodyPr>
            <a:lstStyle>
              <a:lvl1pPr>
                <a:defRPr sz="2200"/>
              </a:lvl1pPr>
            </a:lstStyle>
            <a:p>
              <a:r>
                <a:rPr dirty="0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PEFT </a:t>
              </a:r>
              <a:r>
                <a:rPr dirty="0" err="1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LoRA</a:t>
              </a:r>
              <a:r>
                <a:rPr dirty="0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 </a:t>
              </a:r>
              <a:r>
                <a:rPr dirty="0" err="1">
                  <a:solidFill>
                    <a:schemeClr val="bg1">
                      <a:lumMod val="75000"/>
                    </a:schemeClr>
                  </a:solidFill>
                  <a:latin typeface="NanumBarunGothicOTF" panose="02020603020101020101" pitchFamily="18" charset="-127"/>
                  <a:ea typeface="NanumBarunGothicOTF" panose="02020603020101020101" pitchFamily="18" charset="-127"/>
                </a:rPr>
                <a:t>학습결과</a:t>
              </a:r>
              <a:endParaRPr dirty="0">
                <a:solidFill>
                  <a:schemeClr val="bg1">
                    <a:lumMod val="75000"/>
                  </a:schemeClr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endParaRPr>
            </a:p>
          </p:txBody>
        </p:sp>
      </p:grpSp>
      <p:sp>
        <p:nvSpPr>
          <p:cNvPr id="5" name="경력 상세">
            <a:extLst>
              <a:ext uri="{FF2B5EF4-FFF2-40B4-BE49-F238E27FC236}">
                <a16:creationId xmlns:a16="http://schemas.microsoft.com/office/drawing/2014/main" id="{4493E12E-ACD5-C2BE-9C3A-1CC6D6CF5EA5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2024.07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~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2024.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08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개인프로젝트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추리게임용 온 디바이스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SLM Chatbot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경량화 및 런타임 최적화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BBF816-280E-60C7-7705-6BB5A04B6D1A}"/>
              </a:ext>
            </a:extLst>
          </p:cNvPr>
          <p:cNvSpPr/>
          <p:nvPr/>
        </p:nvSpPr>
        <p:spPr>
          <a:xfrm>
            <a:off x="14128586" y="4091924"/>
            <a:ext cx="6960202" cy="4305301"/>
          </a:xfrm>
          <a:prstGeom prst="rect">
            <a:avLst/>
          </a:prstGeom>
          <a:gradFill>
            <a:gsLst>
              <a:gs pos="0">
                <a:schemeClr val="tx2">
                  <a:lumMod val="50000"/>
                  <a:alpha val="0"/>
                </a:schemeClr>
              </a:gs>
              <a:gs pos="31000">
                <a:schemeClr val="tx2">
                  <a:lumMod val="50000"/>
                </a:schemeClr>
              </a:gs>
            </a:gsLst>
            <a:lin ang="0" scaled="0"/>
          </a:gra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Avenir Next Regular"/>
              <a:ea typeface="Avenir Next Regular"/>
              <a:cs typeface="Avenir Next Regular"/>
              <a:sym typeface="Avenir Next Regular"/>
            </a:endParaRPr>
          </a:p>
        </p:txBody>
      </p:sp>
      <p:sp>
        <p:nvSpPr>
          <p:cNvPr id="4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6F046929-CC7F-CBDC-BED2-BC37B5EA6403}"/>
              </a:ext>
            </a:extLst>
          </p:cNvPr>
          <p:cNvSpPr txBox="1">
            <a:spLocks/>
          </p:cNvSpPr>
          <p:nvPr/>
        </p:nvSpPr>
        <p:spPr>
          <a:xfrm>
            <a:off x="15553023" y="4780428"/>
            <a:ext cx="7956986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758951" lvl="1" indent="-379475" defTabSz="295147">
              <a:spcBef>
                <a:spcPts val="3900"/>
              </a:spcBef>
              <a:defRPr sz="332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Polyglot-kr-1.3B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을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PEFT </a:t>
            </a:r>
            <a:r>
              <a:rPr lang="en" altLang="ko-KR" sz="26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LoRA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학습</a:t>
            </a:r>
          </a:p>
          <a:p>
            <a:pPr marL="758951" lvl="1" indent="-379475" defTabSz="295147">
              <a:spcBef>
                <a:spcPts val="3900"/>
              </a:spcBef>
              <a:defRPr sz="332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LLM Python server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경량화를 위한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batch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로 분리 및 구조 설계</a:t>
            </a:r>
          </a:p>
          <a:p>
            <a:pPr marL="758951" lvl="1" indent="-379475" defTabSz="295147">
              <a:spcBef>
                <a:spcPts val="3900"/>
              </a:spcBef>
              <a:defRPr sz="332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Application service </a:t>
            </a:r>
            <a:r>
              <a:rPr lang="ko-KR" altLang="en-US" sz="2600" dirty="0" err="1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를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위한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CPU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추론 모델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ONNX exporting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AutoQA Tool 동작 화면"/>
          <p:cNvSpPr txBox="1"/>
          <p:nvPr/>
        </p:nvSpPr>
        <p:spPr>
          <a:xfrm>
            <a:off x="4438959" y="12720032"/>
            <a:ext cx="2872581" cy="44114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>
            <a:lvl1pPr>
              <a:defRPr sz="2200" u="sng">
                <a:hlinkClick r:id="rId4"/>
              </a:defRPr>
            </a:lvl1pPr>
          </a:lstStyle>
          <a:p>
            <a:pPr>
              <a:defRPr u="none"/>
            </a:pPr>
            <a:r>
              <a:rPr b="1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AutoQA Tool 동작 화면</a:t>
            </a:r>
          </a:p>
        </p:txBody>
      </p:sp>
      <p:sp>
        <p:nvSpPr>
          <p:cNvPr id="4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2D028E21-8931-B189-EB20-267A92C8C813}"/>
              </a:ext>
            </a:extLst>
          </p:cNvPr>
          <p:cNvSpPr txBox="1">
            <a:spLocks/>
          </p:cNvSpPr>
          <p:nvPr/>
        </p:nvSpPr>
        <p:spPr>
          <a:xfrm>
            <a:off x="11414929" y="4872847"/>
            <a:ext cx="14459071" cy="5196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OpenCV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기반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Multi-Scale Template Matching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알고리즘 적용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Thread Pool (GIL)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이용한 속도 최적화 및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Window Handler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적용한 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Macro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기능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Paddle &amp; Easy</a:t>
            </a: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OCR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Fine-tune Yolov7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적용</a:t>
            </a:r>
            <a:endParaRPr lang="en-US" altLang="ko-KR" sz="2600" dirty="0">
              <a:solidFill>
                <a:schemeClr val="bg1"/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VLM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모델을 이용한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비디오 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Context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오류 탐지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및 </a:t>
            </a:r>
            <a:r>
              <a:rPr lang="en-US" altLang="ko-KR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LLM</a:t>
            </a:r>
            <a:r>
              <a:rPr lang="ko-KR" altLang="en-US" sz="2600" dirty="0">
                <a:solidFill>
                  <a:schemeClr val="bg1"/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리포트 기능추가</a:t>
            </a:r>
          </a:p>
        </p:txBody>
      </p:sp>
      <p:sp>
        <p:nvSpPr>
          <p:cNvPr id="6" name="경력 상세">
            <a:extLst>
              <a:ext uri="{FF2B5EF4-FFF2-40B4-BE49-F238E27FC236}">
                <a16:creationId xmlns:a16="http://schemas.microsoft.com/office/drawing/2014/main" id="{8ED76546-9E2F-ADF6-74D3-F04EC4450458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2024.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08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~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2025.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04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개인 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이미지 기반 시스템 독립적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AutoQA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Tool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BBDB97B-F1B2-DB91-B64B-27762101F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1474" y="9344123"/>
            <a:ext cx="8947553" cy="3087737"/>
          </a:xfrm>
          <a:prstGeom prst="rect">
            <a:avLst/>
          </a:prstGeom>
        </p:spPr>
      </p:pic>
      <p:pic>
        <p:nvPicPr>
          <p:cNvPr id="3" name="온라인 미디어 2" descr="Can AI Find Game Bugs? 🤖 | AutoQA: An AI-Powered Game Testing Solution">
            <a:hlinkClick r:id="" action="ppaction://media"/>
            <a:extLst>
              <a:ext uri="{FF2B5EF4-FFF2-40B4-BE49-F238E27FC236}">
                <a16:creationId xmlns:a16="http://schemas.microsoft.com/office/drawing/2014/main" id="{0D70EDB1-0E22-D816-95D7-141F24B9872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6"/>
          <a:stretch>
            <a:fillRect/>
          </a:stretch>
        </p:blipFill>
        <p:spPr>
          <a:xfrm>
            <a:off x="1401475" y="4000584"/>
            <a:ext cx="8947552" cy="5055367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5E6646-D34E-E50F-1BE0-A91DBDA09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텍스트, 스크린샷, 소프트웨어, 멀티미디어 소프트웨어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320A748-3F02-1807-15F9-CB1A17207C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5135" y="8150823"/>
            <a:ext cx="8044639" cy="45251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52BB87A-6A08-2468-8A10-D9DB52A5DA84}"/>
              </a:ext>
            </a:extLst>
          </p:cNvPr>
          <p:cNvSpPr txBox="1"/>
          <p:nvPr/>
        </p:nvSpPr>
        <p:spPr>
          <a:xfrm>
            <a:off x="4415009" y="12374442"/>
            <a:ext cx="4744889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altLang="ko-KR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NanumBarunGothicOTF" panose="02020603020101020101" pitchFamily="18" charset="-127"/>
                <a:ea typeface="NanumBarunGothicOTF" panose="02020603020101020101" pitchFamily="18" charset="-127"/>
                <a:sym typeface="Avenir Next Regular"/>
              </a:rPr>
              <a:t>Flutter </a:t>
            </a:r>
            <a:r>
              <a:rPr kumimoji="0" lang="ko-KR" altLang="en-US" sz="2400" b="0" i="0" u="none" strike="noStrike" cap="none" spc="0" normalizeH="0" baseline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FillTx/>
                <a:latin typeface="NanumBarunGothicOTF" panose="02020603020101020101" pitchFamily="18" charset="-127"/>
                <a:ea typeface="NanumBarunGothicOTF" panose="02020603020101020101" pitchFamily="18" charset="-127"/>
                <a:sym typeface="Avenir Next Regular"/>
              </a:rPr>
              <a:t>채팅 기능 구현 및 모델 테스트</a:t>
            </a:r>
          </a:p>
        </p:txBody>
      </p:sp>
      <p:pic>
        <p:nvPicPr>
          <p:cNvPr id="4" name="그림 3" descr="텍스트, 스크린샷, 명함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98F12B6-AEDD-E763-D2CE-CF0FD444D8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65136" y="3493045"/>
            <a:ext cx="8044639" cy="4421941"/>
          </a:xfrm>
          <a:prstGeom prst="rect">
            <a:avLst/>
          </a:prstGeom>
        </p:spPr>
      </p:pic>
      <p:sp>
        <p:nvSpPr>
          <p:cNvPr id="2" name="경력 상세">
            <a:extLst>
              <a:ext uri="{FF2B5EF4-FFF2-40B4-BE49-F238E27FC236}">
                <a16:creationId xmlns:a16="http://schemas.microsoft.com/office/drawing/2014/main" id="{79539934-9A7A-0436-3B6A-CA67F93A68C2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2025. 01 ~ 2025.02.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개인프로젝트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SLM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온 디바이스 에이전트 시스템 구축 프로젝트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3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B5931DA0-BCF6-C4F8-6D81-2D4D4A73EAE8}"/>
              </a:ext>
            </a:extLst>
          </p:cNvPr>
          <p:cNvSpPr txBox="1">
            <a:spLocks/>
          </p:cNvSpPr>
          <p:nvPr/>
        </p:nvSpPr>
        <p:spPr>
          <a:xfrm>
            <a:off x="13146506" y="5543068"/>
            <a:ext cx="10030994" cy="47438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DeepSeek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R1 Distil Qwen 1.5B,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TinyLlama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DistilBERT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등 모델 및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LlamaIndex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LangChain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LangGraph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CoT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적용 테스트 완료</a:t>
            </a:r>
            <a:endParaRPr lang="en-US" altLang="ko-KR" sz="26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MCP(Model Context Protocol)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을 활용한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Agentic AI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기술 테스트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Flutter </a:t>
            </a:r>
            <a:r>
              <a:rPr lang="ko-KR" altLang="en-US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챗팅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Client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환경 구성</a:t>
            </a:r>
          </a:p>
        </p:txBody>
      </p:sp>
    </p:spTree>
    <p:extLst>
      <p:ext uri="{BB962C8B-B14F-4D97-AF65-F5344CB8AC3E}">
        <p14:creationId xmlns:p14="http://schemas.microsoft.com/office/powerpoint/2010/main" val="345919938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9AB65D-64B0-6316-9917-EF1153764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2B1E6C5-6DF9-F2BD-8A7D-0CD674F8A4E6}"/>
              </a:ext>
            </a:extLst>
          </p:cNvPr>
          <p:cNvSpPr txBox="1"/>
          <p:nvPr/>
        </p:nvSpPr>
        <p:spPr>
          <a:xfrm>
            <a:off x="5673220" y="11663998"/>
            <a:ext cx="3324628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코드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&amp;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웹 검색 </a:t>
            </a:r>
            <a:r>
              <a:rPr lang="ko-KR" altLang="en-US"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에이전틱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</a:t>
            </a:r>
            <a:endParaRPr kumimoji="0" lang="ko-KR" altLang="en-US" sz="2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NanumBarunGothicOTF" panose="02020603020101020101" pitchFamily="18" charset="-127"/>
              <a:ea typeface="NanumBarunGothicOTF" panose="02020603020101020101" pitchFamily="18" charset="-127"/>
              <a:sym typeface="Avenir Next Regular"/>
            </a:endParaRPr>
          </a:p>
        </p:txBody>
      </p:sp>
      <p:sp>
        <p:nvSpPr>
          <p:cNvPr id="2" name="경력 상세">
            <a:extLst>
              <a:ext uri="{FF2B5EF4-FFF2-40B4-BE49-F238E27FC236}">
                <a16:creationId xmlns:a16="http://schemas.microsoft.com/office/drawing/2014/main" id="{1516D8B3-B8BB-019F-1E62-5823E1C740F2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2025. 02 ~ 2025.03.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개인프로젝트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LLM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기반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Agentic AI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–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코딩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&amp;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웹 검색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: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바이브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코딩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3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4D64919B-C500-536F-8791-29C5C47436F8}"/>
              </a:ext>
            </a:extLst>
          </p:cNvPr>
          <p:cNvSpPr txBox="1">
            <a:spLocks/>
          </p:cNvSpPr>
          <p:nvPr/>
        </p:nvSpPr>
        <p:spPr>
          <a:xfrm>
            <a:off x="14742367" y="4729806"/>
            <a:ext cx="8435133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LLM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기반의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Smol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구조 활용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 OpenAI GPT API )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Agentic AI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의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Agent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기능 구현</a:t>
            </a:r>
            <a:endParaRPr lang="en-US" altLang="ko-KR" sz="26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언어별 코딩 파일 생성 및 실행 기능 구현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구글 검색 기능 구현</a:t>
            </a:r>
          </a:p>
        </p:txBody>
      </p:sp>
      <p:pic>
        <p:nvPicPr>
          <p:cNvPr id="5" name="온라인 미디어 4" descr="Agentic AI, Role:Code&amp;WebSearch">
            <a:hlinkClick r:id="" action="ppaction://media"/>
            <a:extLst>
              <a:ext uri="{FF2B5EF4-FFF2-40B4-BE49-F238E27FC236}">
                <a16:creationId xmlns:a16="http://schemas.microsoft.com/office/drawing/2014/main" id="{5F35A50F-C58C-9DB5-A292-F266B709BD68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5"/>
          <a:stretch>
            <a:fillRect/>
          </a:stretch>
        </p:blipFill>
        <p:spPr>
          <a:xfrm>
            <a:off x="477982" y="4040286"/>
            <a:ext cx="13715105" cy="774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7056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DA2616-CE48-4F79-0D6F-8F16E803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경력 상세">
            <a:extLst>
              <a:ext uri="{FF2B5EF4-FFF2-40B4-BE49-F238E27FC236}">
                <a16:creationId xmlns:a16="http://schemas.microsoft.com/office/drawing/2014/main" id="{F65E709C-1345-D508-01AC-4063D1416B6A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2025. 03 ~ 2025.03.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개인프로젝트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LLM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기반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Game Design Agent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개발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3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DF312F58-F0D9-A440-9888-ACD5D60524D0}"/>
              </a:ext>
            </a:extLst>
          </p:cNvPr>
          <p:cNvSpPr txBox="1">
            <a:spLocks/>
          </p:cNvSpPr>
          <p:nvPr/>
        </p:nvSpPr>
        <p:spPr>
          <a:xfrm>
            <a:off x="14568055" y="4729806"/>
            <a:ext cx="8609445" cy="6369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ChatGPT API </a:t>
            </a:r>
            <a:r>
              <a:rPr lang="ko-KR" altLang="en-US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를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활용한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Vibe Game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Design Agent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개발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ColBERT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기반의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Embedding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모델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를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활용한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Score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Chunk,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Qdrant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VectorDB</a:t>
            </a:r>
            <a:endParaRPr lang="en-US" altLang="ko-KR" sz="26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Task Planning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을 통한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Task Role (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기획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시스템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밸런스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이벤트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시나리오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동작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Document(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pdf,word,excel,pdf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pptx), Crawling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의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Function Calling</a:t>
            </a:r>
            <a:endParaRPr lang="ko-KR" altLang="en-US" sz="26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pic>
        <p:nvPicPr>
          <p:cNvPr id="3" name="온라인 미디어 2" descr="Game Designer AI Prototype | Specialized Agent Roles with ChatGPT API">
            <a:hlinkClick r:id="" action="ppaction://media"/>
            <a:extLst>
              <a:ext uri="{FF2B5EF4-FFF2-40B4-BE49-F238E27FC236}">
                <a16:creationId xmlns:a16="http://schemas.microsoft.com/office/drawing/2014/main" id="{3F443A7E-C9C8-147C-706C-01CF6B5427E1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507249" y="3837902"/>
            <a:ext cx="13670977" cy="77241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B8B7DE-3F7B-45FB-B14C-55B28DD01562}"/>
              </a:ext>
            </a:extLst>
          </p:cNvPr>
          <p:cNvSpPr txBox="1"/>
          <p:nvPr/>
        </p:nvSpPr>
        <p:spPr>
          <a:xfrm>
            <a:off x="1030111" y="11562004"/>
            <a:ext cx="12625251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시나리오 데이터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링크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문서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로부터 게임기획서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컨텐츠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시스템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밸런스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이벤트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시나리오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제작 에이전트</a:t>
            </a:r>
            <a:endParaRPr kumimoji="0" lang="ko-KR" altLang="en-US" sz="2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NanumBarunGothicOTF" panose="02020603020101020101" pitchFamily="18" charset="-127"/>
              <a:ea typeface="NanumBarunGothicOTF" panose="02020603020101020101" pitchFamily="18" charset="-127"/>
              <a:sym typeface="Avenir N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050076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362D0-9AE6-2F56-B0B5-8F01FD9C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경력 상세">
            <a:extLst>
              <a:ext uri="{FF2B5EF4-FFF2-40B4-BE49-F238E27FC236}">
                <a16:creationId xmlns:a16="http://schemas.microsoft.com/office/drawing/2014/main" id="{56C7BD56-1670-0D70-FF9A-39C8D9740D6E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2025. 04 ~ 2025.05.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개인프로젝트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지능형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Multi-Agentic AI framework with </a:t>
            </a:r>
            <a:r>
              <a:rPr lang="en-US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Ollama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en-US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LangGraph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&amp; </a:t>
            </a:r>
            <a:r>
              <a:rPr lang="en-US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PraisonAI</a:t>
            </a:r>
            <a:endParaRPr lang="en-US" altLang="ko-KR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13" name="2017.12.26 홍익대학교 EGLab, “감성분석기술” JTBC 특허기술이전…">
            <a:extLst>
              <a:ext uri="{FF2B5EF4-FFF2-40B4-BE49-F238E27FC236}">
                <a16:creationId xmlns:a16="http://schemas.microsoft.com/office/drawing/2014/main" id="{A5CCE67E-6BB9-11AC-9132-24D847FDF386}"/>
              </a:ext>
            </a:extLst>
          </p:cNvPr>
          <p:cNvSpPr txBox="1">
            <a:spLocks/>
          </p:cNvSpPr>
          <p:nvPr/>
        </p:nvSpPr>
        <p:spPr>
          <a:xfrm>
            <a:off x="15220514" y="8239624"/>
            <a:ext cx="7956986" cy="48529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Autofit/>
          </a:bodyPr>
          <a:lstStyle>
            <a:lvl1pPr marL="457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  <a:lvl2pPr marL="914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2pPr>
            <a:lvl3pPr marL="1371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3pPr>
            <a:lvl4pPr marL="1828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4pPr>
            <a:lvl5pPr marL="22860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5pPr>
            <a:lvl6pPr marL="27432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6pPr>
            <a:lvl7pPr marL="32004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7pPr>
            <a:lvl8pPr marL="36576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8pPr>
            <a:lvl9pPr marL="4114800" marR="0" indent="-457200" algn="l" defTabSz="355600" rtl="0" latinLnBrk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4000" b="0" i="0" u="none" strike="noStrike" cap="none" spc="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Avenir Next Regular"/>
                <a:ea typeface="Avenir Next Regular"/>
                <a:cs typeface="Avenir Next Regular"/>
                <a:sym typeface="Avenir Next Regular"/>
              </a:defRPr>
            </a:lvl9pPr>
          </a:lstStyle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온 디바이스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Ollama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서버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praisonaiagens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를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이용한 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multi-agents Workflow process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Knowledge Graph </a:t>
            </a:r>
            <a:r>
              <a:rPr lang="ko-KR" altLang="en-US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기반의 </a:t>
            </a:r>
            <a:r>
              <a:rPr lang="en-US" altLang="ko-KR" sz="26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Sementic</a:t>
            </a: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Routing</a:t>
            </a:r>
          </a:p>
          <a:p>
            <a:pPr marL="603504" lvl="1" indent="-301752" defTabSz="234696">
              <a:spcBef>
                <a:spcPts val="3100"/>
              </a:spcBef>
              <a:defRPr sz="2640"/>
            </a:pPr>
            <a:r>
              <a:rPr lang="en-US" altLang="ko-KR" sz="26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MCP(Model Context Protocol), Function Calling(Crawling) Handler</a:t>
            </a:r>
            <a:endParaRPr lang="ko-KR" altLang="en-US" sz="26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pic>
        <p:nvPicPr>
          <p:cNvPr id="3" name="온라인 미디어 2" descr="Building a Next-Gen Multi-Agent AI System with Ollama, PraisonAI &amp; Knowledge Graph Routing">
            <a:hlinkClick r:id="" action="ppaction://media"/>
            <a:extLst>
              <a:ext uri="{FF2B5EF4-FFF2-40B4-BE49-F238E27FC236}">
                <a16:creationId xmlns:a16="http://schemas.microsoft.com/office/drawing/2014/main" id="{745730BB-704D-34F7-F3D6-CEE01242F0A6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745919" y="3927764"/>
            <a:ext cx="13560630" cy="766175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77FFFD9-43E9-DC85-1C87-049F64E43F7D}"/>
              </a:ext>
            </a:extLst>
          </p:cNvPr>
          <p:cNvSpPr txBox="1"/>
          <p:nvPr/>
        </p:nvSpPr>
        <p:spPr>
          <a:xfrm>
            <a:off x="4424423" y="11589520"/>
            <a:ext cx="6203621" cy="107465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470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NanumBarunGothicOTF" panose="02020603020101020101" pitchFamily="18" charset="-127"/>
                <a:ea typeface="NanumBarunGothicOTF" panose="02020603020101020101" pitchFamily="18" charset="-127"/>
                <a:sym typeface="Avenir Next Regula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지능형 멀티 에이전트 워크플로우 프레임워크 구축</a:t>
            </a:r>
            <a:endParaRPr kumimoji="0" lang="ko-KR" altLang="en-US" sz="2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latin typeface="NanumBarunGothicOTF" panose="02020603020101020101" pitchFamily="18" charset="-127"/>
              <a:ea typeface="NanumBarunGothicOTF" panose="02020603020101020101" pitchFamily="18" charset="-127"/>
              <a:sym typeface="Avenir Next Regular"/>
            </a:endParaRPr>
          </a:p>
        </p:txBody>
      </p:sp>
      <p:pic>
        <p:nvPicPr>
          <p:cNvPr id="1028" name="Picture 4" descr="이미지에 alt 속성이 없음">
            <a:extLst>
              <a:ext uri="{FF2B5EF4-FFF2-40B4-BE49-F238E27FC236}">
                <a16:creationId xmlns:a16="http://schemas.microsoft.com/office/drawing/2014/main" id="{2A85AE2C-979A-92FE-7362-6C51FFAD10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893061" y="3927764"/>
            <a:ext cx="8745020" cy="457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3250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C3EA4E-4F1A-954B-AD6D-D9145717B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경력 상세">
            <a:extLst>
              <a:ext uri="{FF2B5EF4-FFF2-40B4-BE49-F238E27FC236}">
                <a16:creationId xmlns:a16="http://schemas.microsoft.com/office/drawing/2014/main" id="{D936AE09-4478-010C-74B8-31A26D6EAA9C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2026. 02 ~ 2026.03. AI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RAG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</a:t>
            </a: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AI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검색엔진 </a:t>
            </a: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SAGA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개발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제작기간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1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개월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  <a:endParaRPr lang="ko-KR" altLang="en-US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pic>
        <p:nvPicPr>
          <p:cNvPr id="5" name="Picture 5" descr="saga_home_cover.png">
            <a:extLst>
              <a:ext uri="{FF2B5EF4-FFF2-40B4-BE49-F238E27FC236}">
                <a16:creationId xmlns:a16="http://schemas.microsoft.com/office/drawing/2014/main" id="{D7EE8F34-6BC0-112D-9F50-9D74CBE4EA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19" y="3927764"/>
            <a:ext cx="13560630" cy="7661756"/>
          </a:xfrm>
          <a:prstGeom prst="rect">
            <a:avLst/>
          </a:prstGeom>
        </p:spPr>
      </p:pic>
      <p:pic>
        <p:nvPicPr>
          <p:cNvPr id="6" name="Picture 7" descr="saga_features_cover.png">
            <a:extLst>
              <a:ext uri="{FF2B5EF4-FFF2-40B4-BE49-F238E27FC236}">
                <a16:creationId xmlns:a16="http://schemas.microsoft.com/office/drawing/2014/main" id="{1663CAA9-87CC-4115-EDF5-A038DA5CE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061" y="3927764"/>
            <a:ext cx="8745020" cy="4575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9D5FC8-C380-DCA8-142A-5362FE64C23B}"/>
              </a:ext>
            </a:extLst>
          </p:cNvPr>
          <p:cNvSpPr txBox="1"/>
          <p:nvPr/>
        </p:nvSpPr>
        <p:spPr>
          <a:xfrm>
            <a:off x="14893060" y="9104010"/>
            <a:ext cx="9490939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기획서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/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업로드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후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청킹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임베딩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벡터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인덱싱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파이프라인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구축</a:t>
            </a:r>
            <a:endParaRPr sz="24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RAG</a:t>
            </a:r>
            <a:r>
              <a:rPr lang="en-US" altLang="ko-KR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  <a:r>
              <a:rPr lang="ko-KR" altLang="en-US"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Hybrid Search, Cross-Encoder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재순위화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답변형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검색</a:t>
            </a:r>
            <a:endParaRPr sz="24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Grounding Guardian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패턴으로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근거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답변과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불확실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정보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명시</a:t>
            </a:r>
            <a:endParaRPr sz="24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AI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생성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시스템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맵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기획서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건강검진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미디어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AI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분석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기능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구성</a:t>
            </a:r>
            <a:endParaRPr sz="24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15개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게임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594개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문서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 1,563개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벡터를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검색하는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운영</a:t>
            </a:r>
            <a:r>
              <a:rPr sz="24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UI </a:t>
            </a:r>
            <a:r>
              <a:rPr sz="24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구현</a:t>
            </a:r>
            <a:endParaRPr sz="24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708E44-4613-48EF-DF08-C6B11C877F45}"/>
              </a:ext>
            </a:extLst>
          </p:cNvPr>
          <p:cNvSpPr txBox="1"/>
          <p:nvPr/>
        </p:nvSpPr>
        <p:spPr>
          <a:xfrm>
            <a:off x="3726234" y="11901095"/>
            <a:ext cx="76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최신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RAG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기반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게임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지식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검색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엔진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SAGA</a:t>
            </a:r>
          </a:p>
        </p:txBody>
      </p:sp>
    </p:spTree>
    <p:extLst>
      <p:ext uri="{BB962C8B-B14F-4D97-AF65-F5344CB8AC3E}">
        <p14:creationId xmlns:p14="http://schemas.microsoft.com/office/powerpoint/2010/main" val="296093445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C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C13828-1C31-087D-0F01-0A0BDB919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경력 상세">
            <a:extLst>
              <a:ext uri="{FF2B5EF4-FFF2-40B4-BE49-F238E27FC236}">
                <a16:creationId xmlns:a16="http://schemas.microsoft.com/office/drawing/2014/main" id="{91C90991-40D3-B2AE-05BA-71561CA56B9C}"/>
              </a:ext>
            </a:extLst>
          </p:cNvPr>
          <p:cNvSpPr txBox="1">
            <a:spLocks/>
          </p:cNvSpPr>
          <p:nvPr/>
        </p:nvSpPr>
        <p:spPr>
          <a:xfrm>
            <a:off x="1206500" y="1284140"/>
            <a:ext cx="21971000" cy="1806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Autofit/>
          </a:bodyPr>
          <a:lstStyle>
            <a:lvl1pPr marL="0" marR="0" indent="0" algn="l" defTabSz="2194559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9000" b="0" i="0" u="none" strike="noStrike" cap="none" spc="-9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1pPr>
            <a:lvl2pPr marL="0" marR="0" indent="457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2pPr>
            <a:lvl3pPr marL="0" marR="0" indent="914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3pPr>
            <a:lvl4pPr marL="0" marR="0" indent="1371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4pPr>
            <a:lvl5pPr marL="0" marR="0" indent="18288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5pPr>
            <a:lvl6pPr marL="0" marR="0" indent="22860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6pPr>
            <a:lvl7pPr marL="0" marR="0" indent="27432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7pPr>
            <a:lvl8pPr marL="0" marR="0" indent="32004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8pPr>
            <a:lvl9pPr marL="0" marR="0" indent="3657600" algn="l" defTabSz="2438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0" b="0" i="0" u="none" strike="noStrike" cap="none" spc="-100" baseline="0">
                <a:solidFill>
                  <a:schemeClr val="accent1">
                    <a:satOff val="-9155"/>
                    <a:lumOff val="-32673"/>
                  </a:schemeClr>
                </a:solidFill>
                <a:uFillTx/>
                <a:latin typeface="+mn-lt"/>
                <a:ea typeface="+mn-ea"/>
                <a:cs typeface="+mn-cs"/>
                <a:sym typeface="Produkt Extralight"/>
              </a:defRPr>
            </a:lvl9pPr>
          </a:lstStyle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2026. 03 ~ 2026.05. AI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프로젝트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,</a:t>
            </a:r>
          </a:p>
          <a:p>
            <a:pPr marL="301752" indent="-301752" defTabSz="234696" hangingPunct="1">
              <a:lnSpc>
                <a:spcPct val="100000"/>
              </a:lnSpc>
              <a:spcBef>
                <a:spcPts val="1000"/>
              </a:spcBef>
              <a:defRPr sz="2640"/>
            </a:pP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Pi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기반 </a:t>
            </a:r>
            <a:r>
              <a:rPr lang="en" altLang="ko-KR" sz="5200" dirty="0" err="1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Slackbot</a:t>
            </a: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연동 개인형 </a:t>
            </a:r>
            <a:r>
              <a:rPr lang="en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RAG Knowledge Ops 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시스템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(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제작기간 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2</a:t>
            </a:r>
            <a:r>
              <a:rPr lang="ko-KR" altLang="en-US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개월</a:t>
            </a:r>
            <a:r>
              <a:rPr lang="en-US" altLang="ko-KR" sz="5200" dirty="0">
                <a:solidFill>
                  <a:schemeClr val="bg1"/>
                </a:solidFill>
                <a:latin typeface="NanumBarunGothicOTF" panose="02020603020101020101" pitchFamily="18" charset="-127"/>
                <a:ea typeface="NanumBarunGothicOTF" panose="02020603020101020101" pitchFamily="18" charset="-127"/>
              </a:rPr>
              <a:t>)</a:t>
            </a:r>
            <a:endParaRPr lang="ko-KR" altLang="en-US" sz="5200" dirty="0">
              <a:solidFill>
                <a:schemeClr val="bg1"/>
              </a:solidFill>
              <a:latin typeface="NanumBarunGothicOTF" panose="02020603020101020101" pitchFamily="18" charset="-127"/>
              <a:ea typeface="NanumBarunGothicOTF" panose="02020603020101020101" pitchFamily="18" charset="-127"/>
            </a:endParaRPr>
          </a:p>
        </p:txBody>
      </p:sp>
      <p:pic>
        <p:nvPicPr>
          <p:cNvPr id="5" name="Picture 5" descr="millie_workspace_cover.png">
            <a:extLst>
              <a:ext uri="{FF2B5EF4-FFF2-40B4-BE49-F238E27FC236}">
                <a16:creationId xmlns:a16="http://schemas.microsoft.com/office/drawing/2014/main" id="{6CA4E747-93A9-9FFC-AD53-DEBE6EF3B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919" y="3927764"/>
            <a:ext cx="13560630" cy="7661756"/>
          </a:xfrm>
          <a:prstGeom prst="rect">
            <a:avLst/>
          </a:prstGeom>
        </p:spPr>
      </p:pic>
      <p:pic>
        <p:nvPicPr>
          <p:cNvPr id="6" name="Picture 7" descr="millie_slackbot_cover.png">
            <a:extLst>
              <a:ext uri="{FF2B5EF4-FFF2-40B4-BE49-F238E27FC236}">
                <a16:creationId xmlns:a16="http://schemas.microsoft.com/office/drawing/2014/main" id="{9AF53EB8-DA4F-224A-E981-1D83CA1C1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93061" y="3927764"/>
            <a:ext cx="8745020" cy="45758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40927C-1057-2E67-69AF-0D87B00C2C91}"/>
              </a:ext>
            </a:extLst>
          </p:cNvPr>
          <p:cNvSpPr txBox="1"/>
          <p:nvPr/>
        </p:nvSpPr>
        <p:spPr>
          <a:xfrm>
            <a:off x="15220513" y="8760000"/>
            <a:ext cx="8910725" cy="4001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NanumBarunGothicOTF"/>
              </a:rPr>
              <a:t>개인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/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조직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에이전트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카드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지식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연결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대화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/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미팅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실행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워크스페이스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구축</a:t>
            </a:r>
            <a:endParaRPr sz="2400" dirty="0">
              <a:solidFill>
                <a:schemeClr val="bg1"/>
              </a:solidFill>
              <a:latin typeface="NanumBarunGothicOTF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NanumBarunGothicOTF"/>
              </a:rPr>
              <a:t>텍스트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파일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, URL, Drive/Notion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지식을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입력→정리→반영하는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Data Grounding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파이프라인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설계</a:t>
            </a:r>
            <a:endParaRPr sz="2400" dirty="0">
              <a:solidFill>
                <a:schemeClr val="bg1"/>
              </a:solidFill>
              <a:latin typeface="NanumBarunGothicOTF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NanumBarunGothicOTF"/>
              </a:rPr>
              <a:t>Slackbot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credential metadata, runtime config, channel sync, reload/reboot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복구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제어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화면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구현</a:t>
            </a:r>
            <a:endParaRPr sz="2400" dirty="0">
              <a:solidFill>
                <a:schemeClr val="bg1"/>
              </a:solidFill>
              <a:latin typeface="NanumBarunGothicOTF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 err="1">
                <a:solidFill>
                  <a:schemeClr val="bg1"/>
                </a:solidFill>
                <a:latin typeface="NanumBarunGothicOTF"/>
              </a:rPr>
              <a:t>채널별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Agent ID, report target, schedule, response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mode를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pull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config로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Slackbot에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연동</a:t>
            </a:r>
            <a:endParaRPr sz="2400" dirty="0">
              <a:solidFill>
                <a:schemeClr val="bg1"/>
              </a:solidFill>
              <a:latin typeface="NanumBarunGothicOTF"/>
            </a:endParaRPr>
          </a:p>
          <a:p>
            <a:pPr marL="342900" lvl="1" indent="-342900">
              <a:spcBef>
                <a:spcPts val="400"/>
              </a:spcBef>
              <a:spcAft>
                <a:spcPts val="200"/>
              </a:spcAft>
              <a:buFont typeface="Arial" panose="020B0604020202020204" pitchFamily="34" charset="0"/>
              <a:buChar char="•"/>
            </a:pPr>
            <a:r>
              <a:rPr sz="2400" dirty="0">
                <a:solidFill>
                  <a:schemeClr val="bg1"/>
                </a:solidFill>
                <a:latin typeface="NanumBarunGothicOTF"/>
              </a:rPr>
              <a:t>Google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인증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,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관리자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Control Tower, LLM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사용량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/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지연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모니터링과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운영</a:t>
            </a:r>
            <a:r>
              <a:rPr sz="2400" dirty="0">
                <a:solidFill>
                  <a:schemeClr val="bg1"/>
                </a:solidFill>
                <a:latin typeface="NanumBarunGothicOTF"/>
              </a:rPr>
              <a:t> runbook </a:t>
            </a:r>
            <a:r>
              <a:rPr sz="2400" dirty="0" err="1">
                <a:solidFill>
                  <a:schemeClr val="bg1"/>
                </a:solidFill>
                <a:latin typeface="NanumBarunGothicOTF"/>
              </a:rPr>
              <a:t>구성</a:t>
            </a:r>
            <a:endParaRPr sz="2400" dirty="0">
              <a:solidFill>
                <a:schemeClr val="bg1"/>
              </a:solidFill>
              <a:latin typeface="NanumBarunGothicOTF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3C02F-CC24-7161-DF9F-FF8CE471DC8F}"/>
              </a:ext>
            </a:extLst>
          </p:cNvPr>
          <p:cNvSpPr txBox="1"/>
          <p:nvPr/>
        </p:nvSpPr>
        <p:spPr>
          <a:xfrm>
            <a:off x="3922303" y="11901095"/>
            <a:ext cx="7600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개인형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RAG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검색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+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Slackbot</a:t>
            </a:r>
            <a:r>
              <a:rPr sz="2200" b="0" dirty="0">
                <a:solidFill>
                  <a:schemeClr val="bg1"/>
                </a:solidFill>
                <a:latin typeface="NanumBarunGothicOTF"/>
              </a:rPr>
              <a:t> Agent Knowledge Ops </a:t>
            </a:r>
            <a:r>
              <a:rPr sz="2200" b="0" dirty="0" err="1">
                <a:solidFill>
                  <a:schemeClr val="bg1"/>
                </a:solidFill>
                <a:latin typeface="NanumBarunGothicOTF"/>
              </a:rPr>
              <a:t>시스템</a:t>
            </a:r>
            <a:endParaRPr sz="2200" b="0" dirty="0">
              <a:solidFill>
                <a:schemeClr val="bg1"/>
              </a:solidFill>
              <a:latin typeface="NanumBarunGothicOTF"/>
            </a:endParaRPr>
          </a:p>
        </p:txBody>
      </p:sp>
    </p:spTree>
    <p:extLst>
      <p:ext uri="{BB962C8B-B14F-4D97-AF65-F5344CB8AC3E}">
        <p14:creationId xmlns:p14="http://schemas.microsoft.com/office/powerpoint/2010/main" val="376613447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38_MinimalistLight">
  <a:themeElements>
    <a:clrScheme name="38_MinimalistLight">
      <a:dk1>
        <a:srgbClr val="53585F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8_MinimalistLight">
  <a:themeElements>
    <a:clrScheme name="38_MinimalistLight">
      <a:dk1>
        <a:srgbClr val="000000"/>
      </a:dk1>
      <a:lt1>
        <a:srgbClr val="FFFFFF"/>
      </a:lt1>
      <a:dk2>
        <a:srgbClr val="53585F"/>
      </a:dk2>
      <a:lt2>
        <a:srgbClr val="D5D5D5"/>
      </a:lt2>
      <a:accent1>
        <a:srgbClr val="9FAABA"/>
      </a:accent1>
      <a:accent2>
        <a:srgbClr val="88A7B2"/>
      </a:accent2>
      <a:accent3>
        <a:srgbClr val="94B9A3"/>
      </a:accent3>
      <a:accent4>
        <a:srgbClr val="F0BE5E"/>
      </a:accent4>
      <a:accent5>
        <a:srgbClr val="D5B7B7"/>
      </a:accent5>
      <a:accent6>
        <a:srgbClr val="B894B1"/>
      </a:accent6>
      <a:hlink>
        <a:srgbClr val="0000FF"/>
      </a:hlink>
      <a:folHlink>
        <a:srgbClr val="FF00FF"/>
      </a:folHlink>
    </a:clrScheme>
    <a:fontScheme name="38_MinimalistLight">
      <a:majorFont>
        <a:latin typeface="Produkt Extralight"/>
        <a:ea typeface="Produkt Extralight"/>
        <a:cs typeface="Produkt Extralight"/>
      </a:majorFont>
      <a:minorFont>
        <a:latin typeface="Produkt Extralight"/>
        <a:ea typeface="Produkt Extralight"/>
        <a:cs typeface="Produkt Extralight"/>
      </a:minorFont>
    </a:fontScheme>
    <a:fmtScheme name="38_Minimalist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satOff val="-9155"/>
            <a:lumOff val="-32673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>
              <a:satOff val="-9155"/>
              <a:lumOff val="-32673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355600" rtl="0" fontAlgn="auto" latinLnBrk="0" hangingPunct="0">
          <a:lnSpc>
            <a:spcPct val="100000"/>
          </a:lnSpc>
          <a:spcBef>
            <a:spcPts val="470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chemeClr val="accent1">
                <a:satOff val="-9155"/>
                <a:lumOff val="-32673"/>
              </a:schemeClr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2794</TotalTime>
  <Words>1141</Words>
  <Application>Microsoft Macintosh PowerPoint</Application>
  <PresentationFormat>사용자 지정</PresentationFormat>
  <Paragraphs>102</Paragraphs>
  <Slides>13</Slides>
  <Notes>12</Notes>
  <HiddenSlides>0</HiddenSlides>
  <MMClips>5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NanumGothic</vt:lpstr>
      <vt:lpstr>NanumBarunGothicOTF</vt:lpstr>
      <vt:lpstr>NanumBarunGothicOTF Light</vt:lpstr>
      <vt:lpstr>NANUMGOTHIC EXTRABOLD</vt:lpstr>
      <vt:lpstr>Produkt Extralight</vt:lpstr>
      <vt:lpstr>Produkt Light</vt:lpstr>
      <vt:lpstr>Arial</vt:lpstr>
      <vt:lpstr>Avenir Next Regular</vt:lpstr>
      <vt:lpstr>Helvetica Neue</vt:lpstr>
      <vt:lpstr>Wingdings</vt:lpstr>
      <vt:lpstr>38_MinimalistLight</vt:lpstr>
      <vt:lpstr>포트폴리오</vt:lpstr>
      <vt:lpstr>2017.12.26 홍익대학교 EGLab, “감성분석기술” JTBC 특허기술이전</vt:lpstr>
      <vt:lpstr>2017.07 ~ 2017.12 Com2us, “던전 딜리버리” 강화학습 에이전트 적용 테스트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정장영</cp:lastModifiedBy>
  <cp:revision>82</cp:revision>
  <dcterms:modified xsi:type="dcterms:W3CDTF">2026-06-08T06:36:43Z</dcterms:modified>
</cp:coreProperties>
</file>